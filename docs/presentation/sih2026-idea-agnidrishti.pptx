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56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AgniDrishti, team Regnum Carya, SIH 2026 PS 26170 (ISRO).</a:t>
            </a:r>
          </a:p>
          <a:p>
            <a:r>
              <a:t>10-second pitch: static limits pass an in-spec part even when it is abnormal for its lot or drifting — the PS's 'latent defect'. AgniDrishti flags it at hour 24 and sends doubtful parts to an engineer; every decision, PASS included, shows the rule that fired, and bad or missing data is never PASSed.</a:t>
            </a:r>
          </a:p>
          <a:p>
            <a:r>
              <a:t>Before upload: replace the Team ID text once the portal assigns it; export to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MESSAGE: in spec is not the same as healthy.</a:t>
            </a:r>
          </a:p>
          <a:p>
            <a:r>
              <a:t>Chart: one real row of the frozen pipeline on held-out SYNTHETIC test lots (artifacts/metrics/E1-E6_test/20260926-144448_c8ca99b): SYN-L026-C0010 Iddq, 12.34 uA at 24 h (limit 30 uA). Drift 0-24 h 3.38 uA vs the lot's median drift 0.116 uA (29x; 42.7 robust sigma) -&gt; REJECT, rules R2;R3;R5. 96 h and 168 h values (22.3, 32.0 uA) were revealed only after the decision, for evaluation.</a:t>
            </a:r>
          </a:p>
          <a:p>
            <a:r>
              <a:t>R2 needs both the point and the optimistic end of the range above the safety slope 0.0080 uA/h (15 % of V0 / 168 h): optimistic (12.14 - 8.955)/168 = 0.0190 uA/h = 2.4x; point 0.0208 = 2.6x. The forecast under-predicted the size.</a:t>
            </a:r>
          </a:p>
          <a:p>
            <a:r>
              <a:t>Tiles: recall on the primary proxy label (drift &gt; 15 % of V0 by 168 h, or 168 h outside the limit), 30 positive part-parameters (one part x one parameter), REVIEW counted as flagged. E6 recall 0.80, 95 % Wilson CI 0.63-0.91. 11 % = 247 REVIEW + 14 REJECT of 2,368.</a:t>
            </a:r>
          </a:p>
          <a:p>
            <a:r>
              <a:t>The evidence card for this part is on slide 4.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MESSAGE: each PS metric answered at the top; below it, a simple layered pipeline in which each layer's contribution was measured, including the ones that did not help.</a:t>
            </a:r>
          </a:p>
          <a:p>
            <a:r>
              <a:t>Runs: test artifacts/metrics/E1-E6_test/20260926-144448_c8ca99b (frozen specs from validation run 20260926-144425_c8ca99b). MAE figures are on validation lots (ablation-plan section 3). Label: primary proxy label, Delta_allow 0.15 relative (ADR-002/004).</a:t>
            </a:r>
          </a:p>
          <a:p>
            <a:r>
              <a:t>The PS names three evaluation metrics (Anomaly Detection Score, Drift Prediction Accuracy = MAE, Explainability) but gives no formula for the score; we count REVIEW + REJECT as flagged and report recall at a stated review share.</a:t>
            </a:r>
          </a:p>
          <a:p>
            <a:r>
              <a:t>Why E6 rather than E3: E3 precision 0.213 at 3.5 % REVIEW; E6 0.092 at 10.4 %. The PS treats a miss as costlier than a review, so E6 is the recall-first point (+4 catches for about 165 more reviews). The review threshold is re-chosen per site fit to meet the configured target recall.</a:t>
            </a:r>
          </a:p>
          <a:p>
            <a:r>
              <a:t>Test coverage of the 90 % range 0.887; per-lot 0.668-0.980 on validation. Not a failure probability.</a:t>
            </a:r>
          </a:p>
          <a:p>
            <a:r>
              <a:t>Module B model choice: persistence (V168 = V24), linear extrapolation, population increment (V24 + median training-lot 24-&gt;168 h increase) and least-squares linear regression on (V0, V24) were compared; validation MAE Iddq 0.338 / 1.174 / 0.297 / 0.408 uA. The PS asks for a regression model; ours was tried and lost to the simpler learned increment, so the simpler one is used.</a:t>
            </a:r>
          </a:p>
          <a:p>
            <a:r>
              <a:t>Why no LSTM: 2-4 readings per part; sequence models add opacity, not accuracy.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MESSAGE: every known risk is stated at its true status, and the product output is shown.</a:t>
            </a:r>
          </a:p>
          <a:p>
            <a:r>
              <a:t>Data flow in a facility: QA exports the 24 h readings as CSV -&gt; upload in the web UI or CLI -&gt; ranked REVIEW queue with evidence cards.</a:t>
            </a:r>
          </a:p>
          <a:p>
            <a:r>
              <a:t>Escapes and false rejects: final test run, ablation-plan section 5 F5/F6; REJECT 14 = 8 true + 6 false (primary label); 6 / 2,338 negatives = 0.3 %.</a:t>
            </a:r>
          </a:p>
          <a:p>
            <a:r>
              <a:t>Held-out families: written by the team outside the repository; only the SHA-256 commitment is in the repo. Not yet opened; opening date is a team decision.</a:t>
            </a:r>
          </a:p>
          <a:p>
            <a:r>
              <a:t>Scale: service runs on the frozen pipeline, 3 runs each, median: 2,368 part-parameters 0.35 s; 23,680 (10x) 2.6 s; 118,400 (50x, 500 lots) 14.2 s. Test lots copied with new lot IDs; decisions scale exactly. One PC, 2026-09-29.</a:t>
            </a:r>
          </a:p>
          <a:p>
            <a:r>
              <a:t>Replay: GET /api/runs/&lt;id&gt;/replay returned identical: true for the test-lot run (20260929-035534_1f5d29a).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MESSAGE: the same burn-in, but the engineer sees risk at 24 h with the evidence.</a:t>
            </a:r>
          </a:p>
          <a:p>
            <a:r>
              <a:t>Focus: 261 flagged part-parameters (247 REVIEW + 14 REJECT) = 11.0 % of 2,368 hold 24 of 30 positives: 9.2 % in the queue vs 1.27 % base rate, 7.3x. Synthetic held-out test run c8ca99b; not an ISRO result.</a:t>
            </a:r>
          </a:p>
          <a:p>
            <a:r>
              <a:t>Phase 2 gate: the 90 % range must reach its target coverage on at least 90 % of ISRO lots before the forecast is used there.</a:t>
            </a:r>
          </a:p>
          <a:p>
            <a:r>
              <a:t>Chamber time: 168 - 24 = 144 h only if a rejected part's slot can be reloaded; burn-in usually runs as batches. Not measured.</a:t>
            </a:r>
          </a:p>
          <a:p>
            <a:r>
              <a:t>All decisions are advisory: the pipeline decision is recorded, the engineer's decision is logged beside it and never overwrites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ONE MESSAGE: every design choice traces to an official source, an established reliability practice or published method research — and our own evidence can be checked in the repository.</a:t>
            </a:r>
          </a:p>
          <a:p>
            <a:r>
              <a:t>DOIs resolved via doi.org on 2026-09-29; ESREL 2023 title and authors checked against the proceedings page. AEC-Q001 and ESCC informed the design; no compliance is claimed. NASA PCoE data is external public data, planned for a methodology check (R-01..R-04 not yet executed).</a:t>
            </a:r>
          </a:p>
          <a:p>
            <a:r>
              <a:t>Pre-registration: commit 9f52521 (E1-E6 values) precedes the first detector commit 31da148 (same evening); the frozen specs were applied once to the test lots (run 20260926-144448_c8ca99b). Held-out commitment 8ed3789 precedes the generator.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903720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4000" b="1" i="0">
                <a:solidFill>
                  <a:srgbClr val="C55A11"/>
                </a:solidFill>
                <a:latin typeface="Arial"/>
              </a:rPr>
              <a:t>AgniDrishti</a:t>
            </a:r>
          </a:p>
          <a:p>
            <a:pPr algn="l">
              <a:spcAft>
                <a:spcPts val="1400"/>
              </a:spcAft>
              <a:buNone/>
            </a:pPr>
            <a:r>
              <a:rPr lang="en-US" sz="2000" b="1" i="0">
                <a:solidFill>
                  <a:srgbClr val="1F3864"/>
                </a:solidFill>
                <a:latin typeface="Arial"/>
              </a:rPr>
              <a:t>Catch the drifting in-spec part at hour 24, not 168.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400" b="0" i="0">
                <a:solidFill>
                  <a:srgbClr val="1F3864"/>
                </a:solidFill>
                <a:latin typeface="Arial"/>
              </a:rPr>
              <a:t>Decision support for ISRO burn-in QA: at the 24 h reading, each part</a:t>
            </a:r>
            <a:br>
              <a:rPr lang="en-US" sz="1400" b="0" i="0">
                <a:solidFill>
                  <a:srgbClr val="1F3864"/>
                </a:solidFill>
                <a:latin typeface="Arial"/>
              </a:rPr>
            </a:br>
            <a:r>
              <a:rPr lang="en-US" sz="1400" b="0" i="0">
                <a:solidFill>
                  <a:srgbClr val="1F3864"/>
                </a:solidFill>
                <a:latin typeface="Arial"/>
              </a:rPr>
              <a:t>is compared with its own lot and a 168 h forecast. Every decision</a:t>
            </a:r>
            <a:br>
              <a:rPr lang="en-US" sz="1400" b="0" i="0">
                <a:solidFill>
                  <a:srgbClr val="1F3864"/>
                </a:solidFill>
                <a:latin typeface="Arial"/>
              </a:rPr>
            </a:br>
            <a:r>
              <a:rPr lang="en-US" sz="1400" b="0" i="0">
                <a:solidFill>
                  <a:srgbClr val="1F3864"/>
                </a:solidFill>
                <a:latin typeface="Arial"/>
              </a:rPr>
              <a:t>shows its numbers and the rule that fired.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800" b="0" dirty="0">
                <a:solidFill>
                  <a:srgbClr val="0070C0"/>
                </a:solidFill>
                <a:latin typeface="Arial"/>
              </a:rPr>
              <a:t> 26170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800" b="0" dirty="0">
                <a:solidFill>
                  <a:srgbClr val="0070C0"/>
                </a:solidFill>
                <a:latin typeface="Arial"/>
              </a:rPr>
              <a:t> AI-Driven Anomaly Detection in Component Burn-In &amp; Screening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800" b="0" dirty="0">
                <a:solidFill>
                  <a:srgbClr val="0070C0"/>
                </a:solidFill>
                <a:latin typeface="Arial"/>
              </a:rPr>
              <a:t> Smart Automation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sz="1800" b="0" dirty="0">
                <a:solidFill>
                  <a:srgbClr val="0070C0"/>
                </a:solidFill>
                <a:latin typeface="Arial"/>
              </a:rPr>
              <a:t> Software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800" b="0" dirty="0">
                <a:solidFill>
                  <a:srgbClr val="0070C0"/>
                </a:solidFill>
                <a:latin typeface="Arial"/>
              </a:rPr>
              <a:t> (to be assigned on the SIH portal)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800" dirty="0">
                <a:solidFill>
                  <a:srgbClr val="0070C0"/>
                </a:solidFill>
                <a:latin typeface="Arial"/>
              </a:rPr>
              <a:t>Regnum Carya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7863840" cy="960120"/>
          </a:xfrm>
        </p:spPr>
        <p:txBody>
          <a:bodyPr/>
          <a:lstStyle/>
          <a:p>
            <a:r>
              <a:rPr sz="3000" b="1">
                <a:solidFill>
                  <a:srgbClr val="1F3864"/>
                </a:solidFill>
                <a:latin typeface="Times New Roman"/>
              </a:rPr>
              <a:t>In spec is not the same as healthy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62626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005840"/>
            <a:ext cx="777240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316736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572768"/>
            <a:ext cx="11457432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Arial"/>
              </a:rPr>
              <a:t>Latent defects stay inside the datasheet limit but drift. </a:t>
            </a:r>
            <a:r>
              <a:rPr sz="1300" b="1" i="0">
                <a:solidFill>
                  <a:srgbClr val="1F3864"/>
                </a:solidFill>
                <a:latin typeface="Arial"/>
              </a:rPr>
              <a:t>At hour 24, AgniDrishti compares each part with its own lot and a 168 h forecast.</a:t>
            </a:r>
            <a:r>
              <a:rPr sz="1300" b="0" i="0">
                <a:solidFill>
                  <a:srgbClr val="262626"/>
                </a:solidFill>
                <a:latin typeface="Arial"/>
              </a:rPr>
              <a:t> Every decision, PASS included, shows its numbers and the rule that fired; bad or missing data is never PASSed.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65760" y="2103120"/>
            <a:ext cx="585216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PIPELINE OUTPUT</a:t>
            </a:r>
            <a:r>
              <a:rPr sz="1100" b="0" i="0">
                <a:solidFill>
                  <a:srgbClr val="595959"/>
                </a:solidFill>
                <a:latin typeface="Arial"/>
              </a:rPr>
              <a:t> · synthetic held-out lot (not ISRO data) · datasheet check: PASS</a:t>
            </a:r>
          </a:p>
        </p:txBody>
      </p:sp>
      <p:pic>
        <p:nvPicPr>
          <p:cNvPr id="15366" name="Picture 15365" descr="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40864"/>
            <a:ext cx="5257800" cy="2867891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5897880" y="210312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897880" y="2514600"/>
            <a:ext cx="5925312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Module A 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level and 0→24 h drift vs the part's own lot (robust z)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Module B 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V0h + V24h → V168h forecast learned from past lots, with a 90 % range; early rejection if the drift rate exceeds the safety slope</a:t>
            </a:r>
          </a:p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Decision  </a:t>
            </a:r>
            <a:r>
              <a:rPr sz="1400" b="0" i="0">
                <a:solidFill>
                  <a:srgbClr val="262626"/>
                </a:solidFill>
                <a:latin typeface="Arial"/>
              </a:rPr>
              <a:t>ordered rules R0–R6; the rule that fired is the explanation; doubtful parts go to an engineer (REVIEW)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65760" y="5248656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43400" y="5266944"/>
            <a:ext cx="747979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Drifting part-parameters caught at hour 24, of 30 (held-out synthetic lots; part-parameter = one part × one parameter)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65760" y="5559552"/>
            <a:ext cx="2782062" cy="73152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2626"/>
                </a:solidFill>
                <a:latin typeface="Arial"/>
              </a:rPr>
              <a:t>4 / 30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datasheet limit at 24 h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257550" y="5559552"/>
            <a:ext cx="2782062" cy="731520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62626"/>
                </a:solidFill>
                <a:latin typeface="Arial"/>
              </a:rPr>
              <a:t>4 / 30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+ DPAT lot level (AEC-Q001)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149340" y="5559552"/>
            <a:ext cx="2782062" cy="73152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20 / 30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3864"/>
                </a:solidFill>
                <a:latin typeface="Arial"/>
              </a:rPr>
              <a:t>+ lot-relative drift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9041130" y="5559552"/>
            <a:ext cx="2782062" cy="73152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24 / 30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full AgniDrishti · 11 % flagged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62626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69264"/>
            <a:ext cx="11457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Arial"/>
              </a:rPr>
              <a:t>Every layer is tested against a simpler baseline on held-out lots — the results include what did not help.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298448"/>
            <a:ext cx="3758184" cy="53035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PS metric 1 · missed defects (test lots)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recall 0.80 (95 % CI 0.63–0.91); 11 % flagged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15384" y="1298448"/>
            <a:ext cx="3758184" cy="53035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PS metric 2 · 168 h MAE (validation lots)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Iddq 0.297 vs 0.338 µA · tpd 0.047 vs 0.050 ns*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65008" y="1298448"/>
            <a:ext cx="3758184" cy="530352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PS metric 3 · explainability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each decision shows its numbers + the rule fired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1865376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65760" y="2103120"/>
            <a:ext cx="11457432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Module B: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4 forecasters compared on validation MAE; a learned population increment (V24 + median 24→168 h rise) beat least-squares regression; 90 % split-conformal range.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Module A: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robust lot statistics · </a:t>
            </a:r>
            <a:r>
              <a:rPr sz="1100" b="1" i="0">
                <a:solidFill>
                  <a:srgbClr val="1F3864"/>
                </a:solidFill>
                <a:latin typeface="Arial"/>
              </a:rPr>
              <a:t>Decisions: </a:t>
            </a:r>
            <a:r>
              <a:rPr sz="1100" b="0" i="0">
                <a:solidFill>
                  <a:srgbClr val="262626"/>
                </a:solidFill>
                <a:latin typeface="Arial"/>
              </a:rPr>
              <a:t>ordered rules, every output explainable · Python, web UI + CLI, offline, CPU only.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65760" y="25603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778240" y="2578608"/>
            <a:ext cx="304495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✓ all built and tested (commit 1f5d29a)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65760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Tester export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any column layout</a:t>
            </a:r>
          </a:p>
        </p:txBody>
      </p:sp>
      <p:sp>
        <p:nvSpPr>
          <p:cNvPr id="17419" name="Right Arrow 17418"/>
          <p:cNvSpPr/>
          <p:nvPr/>
        </p:nvSpPr>
        <p:spPr>
          <a:xfrm>
            <a:off x="1645920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1824228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Column map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site config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3104388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3282696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Quality gate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bad → REVIEW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4562856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741164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Spec check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datasheet limit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6021324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199632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Lot level + drift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robust z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7479792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7658100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168 h forecast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+ 90 % range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8938260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9116568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Ordered rules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R0–R6</a:t>
            </a:r>
          </a:p>
        </p:txBody>
      </p:sp>
      <p:sp>
        <p:nvSpPr>
          <p:cNvPr id="17431" name="Right Arrow 17430"/>
          <p:cNvSpPr/>
          <p:nvPr/>
        </p:nvSpPr>
        <p:spPr>
          <a:xfrm>
            <a:off x="10396728" y="2953512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10575036" y="2816352"/>
            <a:ext cx="1248156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Evidence card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F3864"/>
                </a:solidFill>
                <a:latin typeface="Arial"/>
              </a:rPr>
              <a:t>+ audit record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65760" y="3291840"/>
            <a:ext cx="5669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Decision rules — first match wins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65760" y="3566160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R0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49808" y="3566160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bad or missing data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120640" y="3584448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65760" y="3808476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R1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49808" y="3808476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outside the datasheet limit now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120640" y="3826763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4050791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R2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4050791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drift rate &gt; safety slope at optimistic end (Module B)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5120640" y="4069079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365760" y="4293108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R3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49808" y="4293108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point or pessimistic end reaches slope or limit (B)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5120640" y="4311396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65760" y="4535424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749808" y="4535424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level and drift both ≥ 6 robust σ (Module A, DPAT)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5120640" y="4553712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REJECT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365760" y="4777740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R5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749808" y="4777740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level or drift ≥ 2.5 robust σ (Module A)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5120640" y="4796027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65760" y="5020056"/>
            <a:ext cx="38404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R6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49808" y="5020056"/>
            <a:ext cx="43434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none of the above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5120640" y="5038344"/>
            <a:ext cx="896112" cy="2011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9144" bIns="9144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365760" y="5340096"/>
            <a:ext cx="5669280" cy="67665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robust z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= (x − median)/(IQR/1.35) · 6 σ DPAT, 2.5 σ tuned on validation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safety slope</a:t>
            </a:r>
            <a:r>
              <a:rPr sz="1150" b="0" i="0">
                <a:solidFill>
                  <a:srgbClr val="262626"/>
                </a:solidFill>
                <a:latin typeface="Arial"/>
              </a:rPr>
              <a:t> s = Δallow/168 h, Δallow = 15 % V0 · drift r = (Ŷ168 − V0)/168 h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365760" y="6035040"/>
            <a:ext cx="56692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Arial"/>
              </a:rPr>
              <a:t>* vs persistence (predict V168 = V24). Flagged = REVIEW 10.4 % + REJECT 0.6 %.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6263640" y="3291840"/>
            <a:ext cx="555955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Measured: held-out test lots, SYNTHETIC, evaluated once</a:t>
            </a:r>
          </a:p>
        </p:txBody>
      </p:sp>
      <p:graphicFrame>
        <p:nvGraphicFramePr>
          <p:cNvPr id="17458" name="Table 17457"/>
          <p:cNvGraphicFramePr>
            <a:graphicFrameLocks noGrp="1"/>
          </p:cNvGraphicFramePr>
          <p:nvPr/>
        </p:nvGraphicFramePr>
        <p:xfrm>
          <a:off x="6263640" y="3566160"/>
          <a:ext cx="5559552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112"/>
                <a:gridCol w="804672"/>
                <a:gridCol w="960120"/>
                <a:gridCol w="932688"/>
                <a:gridCol w="822960"/>
              </a:tblGrid>
              <a:tr h="2377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Cumulative layers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Precision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REVIEW %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False rej.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E1 datasheet limit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0.133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0.125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1.2 %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0.0 %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E2 + DPAT lot level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0.133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0.085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1.9 %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0.0 %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E3 + lot-relative drift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0.213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3.5 %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E4 + 168 h forecast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0.213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3.3 %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0.3 %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E5 + 90 % range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0.667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0.213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3.4 %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0.3 %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E6 full ordered rules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0.800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0.092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62626"/>
                          </a:solidFill>
                          <a:latin typeface="Arial"/>
                        </a:rPr>
                        <a:t>10.4 %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0.3 %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7459" name="TextBox 17458"/>
          <p:cNvSpPr txBox="1"/>
          <p:nvPr/>
        </p:nvSpPr>
        <p:spPr>
          <a:xfrm>
            <a:off x="6263640" y="5303520"/>
            <a:ext cx="5559552" cy="9875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Where the gain comes from: </a:t>
            </a:r>
            <a:r>
              <a:rPr sz="1150" b="0" i="0">
                <a:solidFill>
                  <a:srgbClr val="262626"/>
                </a:solidFill>
                <a:latin typeface="Arial"/>
              </a:rPr>
              <a:t>lot drift (4 → 20 of 30); ordered rules add +4 but raise REVIEW 3.4 % → 10.4 %. Precision falls as doubt goes to REVIEW, yet the flagged queue is ≈ 7× richer in drifting parts than the lot. The forecast adds no detection alone; it feeds R2/R3.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62626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365760" y="1051560"/>
          <a:ext cx="681228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420624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54864" marR="54864" marT="22860" marB="22860" anchor="ctr"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No official dataset for PS 26170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Synthetic PS-shaped lots, always labelled; site-fit script recalibrates on ISRO history (built; untested on real ISRO data)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PS names three metrics but no formula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Report all three: recall at a stated review share, 168 h MAE vs persistence, a rule-based explanation per part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“You detect the defects you injected”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Two extra behaviour families written outside the repo, sealed by SHA-256 on 26 Sep 2026, not yet opened — the final unseen test. Now: test lots scored once; leakage tests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Whole lot degrades / contaminated lot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Median / IQR statistics, plus absolute-limit and safety-slope backstops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Safety slope not defined in the PS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One Δallow per site config (15 % of V0 in the prototype); per-parameter ESCC detail-spec Δ limits are the next step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Late-onset defects look healthy at 24 h (6 of 30 test escapes)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Stated limit; re-screen when the 96 h reading arrives (next)</a:t>
                      </a:r>
                    </a:p>
                  </a:txBody>
                  <a:tcPr marL="54864" marR="54864" marT="22860" marB="22860" anchor="ctr">
                    <a:solidFill>
                      <a:srgbClr val="F0F0F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262626"/>
                          </a:solidFill>
                          <a:latin typeface="Arial"/>
                        </a:rPr>
                        <a:t>Single glitchy 24 h reading → false REJECT: 8 of 14 REJECTs correct (6 false = 0.3 % of part-parameters)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62626"/>
                          </a:solidFill>
                          <a:latin typeface="Arial"/>
                        </a:rPr>
                        <a:t>REJECT is advisory: the engineer confirms (human-in-the-loop). v2: single-jump cases → REVIEW, tested on fresh pre-registered data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1" name="TextBox 17410"/>
          <p:cNvSpPr txBox="1"/>
          <p:nvPr/>
        </p:nvSpPr>
        <p:spPr>
          <a:xfrm>
            <a:off x="7360920" y="1024128"/>
            <a:ext cx="4462272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360920" y="1298448"/>
            <a:ext cx="446227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What the QA engineer sees</a:t>
            </a:r>
            <a:r>
              <a:rPr sz="1100" b="0" i="0">
                <a:solidFill>
                  <a:srgbClr val="595959"/>
                </a:solidFill>
                <a:latin typeface="Arial"/>
              </a:rPr>
              <a:t> · prototype, slide 2's part</a:t>
            </a:r>
          </a:p>
        </p:txBody>
      </p:sp>
      <p:pic>
        <p:nvPicPr>
          <p:cNvPr id="17413" name="Picture 17412" descr="card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554480"/>
            <a:ext cx="4462272" cy="3065387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7414" name="Rounded Rectangle 17413"/>
          <p:cNvSpPr/>
          <p:nvPr/>
        </p:nvSpPr>
        <p:spPr>
          <a:xfrm>
            <a:off x="7360920" y="4663440"/>
            <a:ext cx="4462272" cy="566928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Scale  </a:t>
            </a:r>
            <a:r>
              <a:rPr sz="1150" b="0" i="0">
                <a:solidFill>
                  <a:srgbClr val="262626"/>
                </a:solidFill>
                <a:latin typeface="Arial"/>
              </a:rPr>
              <a:t>2,368 → 118,400 part-parameters: 0.35 s → 14.2 s, linear (one PC; test lots replicated 50×).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360920" y="5303520"/>
            <a:ext cx="4462272" cy="987552"/>
          </a:xfrm>
          <a:prstGeom prst="roundRect">
            <a:avLst>
              <a:gd name="adj" fmla="val 12000"/>
            </a:avLst>
          </a:prstGeom>
          <a:solidFill>
            <a:srgbClr val="E8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2E7D32"/>
                </a:solidFill>
                <a:latin typeface="Arial"/>
              </a:rPr>
              <a:t>Built and verified</a:t>
            </a:r>
            <a:r>
              <a:rPr sz="1100" b="0" i="0">
                <a:solidFill>
                  <a:srgbClr val="262626"/>
                </a:solidFill>
                <a:latin typeface="Arial"/>
              </a:rPr>
              <a:t>  · offline, CPU only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✓ 8 stages ✓ web UI + CLI ✓ any column layout (site config)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✓ 111 tests ✓ audit record + replay → identical decisions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0070C0"/>
                </a:solidFill>
                <a:latin typeface="Arial"/>
              </a:rPr>
              <a:t>github.com/Mrudula211/AgniDrishti/tree/p1-synthetic-data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62626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987552"/>
            <a:ext cx="11457432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3864"/>
                </a:solidFill>
                <a:latin typeface="Arial"/>
              </a:rPr>
              <a:t>Same burn-in. The engineer sees risk at hour 24, with the evidence.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316736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852160" y="1344168"/>
            <a:ext cx="597103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For: QA and reliability engineers screening space-grade electronics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645920"/>
            <a:ext cx="1463040" cy="420624"/>
          </a:xfrm>
          <a:prstGeom prst="roundRect">
            <a:avLst>
              <a:gd name="adj" fmla="val 1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CONVENTIONAL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965960" y="1645920"/>
            <a:ext cx="7863840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Arial"/>
              </a:rPr>
              <a:t>Burn-in 0 → 168 h — no view of which parts are heading for trouble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966960" y="1645920"/>
            <a:ext cx="1856231" cy="420624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PASS / FAIL at 168 h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" y="2157984"/>
            <a:ext cx="1463040" cy="420624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AGNIDRISHTI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965960" y="2157984"/>
            <a:ext cx="1188720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24 h reading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3182112" y="2295144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355848" y="2157984"/>
            <a:ext cx="1874519" cy="420624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262626"/>
                </a:solidFill>
                <a:latin typeface="Arial"/>
              </a:rPr>
              <a:t>Lot, drift, 168 h range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5257800" y="2295144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5431536" y="2157984"/>
            <a:ext cx="1188720" cy="420624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PASS 89.0 %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675120" y="2157984"/>
            <a:ext cx="1325880" cy="420624"/>
          </a:xfrm>
          <a:prstGeom prst="roundRect">
            <a:avLst>
              <a:gd name="adj" fmla="val 12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REVIEW 10.4 %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055864" y="2157984"/>
            <a:ext cx="1188720" cy="420624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REJECT 0.6 %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9272016" y="2295144"/>
            <a:ext cx="146304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9445752" y="2157984"/>
            <a:ext cx="2377439" cy="420624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Engineer reviews flagged · all advisory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65760" y="2633472"/>
            <a:ext cx="1145743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Decision shares measured on the held-out SYNTHETIC test lots (2,368 part-parameters).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65760" y="2889504"/>
            <a:ext cx="114574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At the 24 h checkpoint </a:t>
            </a:r>
            <a:r>
              <a:rPr sz="1300" b="0" i="0">
                <a:solidFill>
                  <a:srgbClr val="262626"/>
                </a:solidFill>
                <a:latin typeface="Arial"/>
              </a:rPr>
              <a:t>the QA engineer gets a ranked REVIEW queue — each part with its numbers, its lot, its forecast range and the rule that fired — and records a decision with a reason. Decision support, not automation.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65760" y="340156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3675887"/>
            <a:ext cx="3739896" cy="1188720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RELIABILITY</a:t>
            </a:r>
            <a:r>
              <a:rPr sz="1100" b="0" i="1">
                <a:solidFill>
                  <a:srgbClr val="595959"/>
                </a:solidFill>
                <a:latin typeface="Arial"/>
              </a:rPr>
              <a:t>   Mission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Latent-defect candidates surface before flight integration, not after: parts in spec but abnormal for their lot or drifting.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224528" y="3675887"/>
            <a:ext cx="3739896" cy="1188720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FOCUS</a:t>
            </a:r>
            <a:r>
              <a:rPr sz="1100" b="0" i="1">
                <a:solidFill>
                  <a:srgbClr val="595959"/>
                </a:solidFill>
                <a:latin typeface="Arial"/>
              </a:rPr>
              <a:t>   Operational · economic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The 11 % sent to an engineer holds 24 of 30 drifting part-parameters — about 7× the base rate. Attention goes where the risk is.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083296" y="3675887"/>
            <a:ext cx="3739896" cy="1188720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TRUST</a:t>
            </a:r>
            <a:r>
              <a:rPr sz="1100" b="0" i="1">
                <a:solidFill>
                  <a:srgbClr val="595959"/>
                </a:solidFill>
                <a:latin typeface="Arial"/>
              </a:rPr>
              <a:t>   Operational · security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Arial"/>
              </a:rPr>
              <a:t>Every decision is reproducible from its record and runs offline, on-site — burn-in data never leaves the facility.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365760" y="4901184"/>
            <a:ext cx="11457432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Focus figures: synthetic test lots. Possible chamber-time saving: a confirmed reject could exit 144 h early, if the facility can reload that slot — not measured.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65760" y="5212080"/>
            <a:ext cx="128016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Future progression</a:t>
            </a:r>
          </a:p>
        </p:txBody>
      </p:sp>
      <p:sp>
        <p:nvSpPr>
          <p:cNvPr id="17434" name="Pentagon 17433"/>
          <p:cNvSpPr/>
          <p:nvPr/>
        </p:nvSpPr>
        <p:spPr>
          <a:xfrm>
            <a:off x="1691640" y="5175504"/>
            <a:ext cx="2651760" cy="731520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PHASE 1 ✓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Synthetic prototype — done</a:t>
            </a:r>
          </a:p>
        </p:txBody>
      </p:sp>
      <p:sp>
        <p:nvSpPr>
          <p:cNvPr id="17435" name="Chevron 17434"/>
          <p:cNvSpPr/>
          <p:nvPr/>
        </p:nvSpPr>
        <p:spPr>
          <a:xfrm>
            <a:off x="4233672" y="5175504"/>
            <a:ext cx="2651760" cy="731520"/>
          </a:xfrm>
          <a:prstGeom prst="chevron">
            <a:avLst/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PHASE 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Arial"/>
              </a:rPr>
              <a:t>ISRO lot history; go if range holds on ≥ 90 % of lots</a:t>
            </a:r>
          </a:p>
        </p:txBody>
      </p:sp>
      <p:sp>
        <p:nvSpPr>
          <p:cNvPr id="17436" name="Chevron 17435"/>
          <p:cNvSpPr/>
          <p:nvPr/>
        </p:nvSpPr>
        <p:spPr>
          <a:xfrm>
            <a:off x="6775704" y="5175504"/>
            <a:ext cx="2651760" cy="731520"/>
          </a:xfrm>
          <a:prstGeom prst="chevron">
            <a:avLst/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PHASE 3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Arial"/>
              </a:rPr>
              <a:t>96 h re-screen · more parameters</a:t>
            </a:r>
          </a:p>
        </p:txBody>
      </p:sp>
      <p:sp>
        <p:nvSpPr>
          <p:cNvPr id="17437" name="Chevron 17436"/>
          <p:cNvSpPr/>
          <p:nvPr/>
        </p:nvSpPr>
        <p:spPr>
          <a:xfrm>
            <a:off x="9317736" y="5175504"/>
            <a:ext cx="2651760" cy="731520"/>
          </a:xfrm>
          <a:prstGeom prst="chevron">
            <a:avLst/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PHASE 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3864"/>
                </a:solidFill>
                <a:latin typeface="Arial"/>
              </a:rPr>
              <a:t>Tester-log ingestion · model monitoring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5760" y="5961888"/>
            <a:ext cx="11457432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Gains on ISRO hardware will be measured after validation on representative ISRO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100" b="1" i="0" u="none">
                <a:solidFill>
                  <a:srgbClr val="262626"/>
                </a:solidFill>
                <a:latin typeface="Arial"/>
              </a:rPr>
              <a:t>Regnum Carya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02412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3749039"/>
            <a:ext cx="5623560" cy="402336"/>
          </a:xfrm>
          <a:prstGeom prst="roundRect">
            <a:avLst>
              <a:gd name="adj" fmla="val 12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3864"/>
                </a:solidFill>
                <a:latin typeface="Arial"/>
              </a:rPr>
              <a:t>Planned: </a:t>
            </a:r>
            <a:r>
              <a:rPr sz="1050" b="0" i="0">
                <a:solidFill>
                  <a:srgbClr val="262626"/>
                </a:solidFill>
                <a:latin typeface="Arial"/>
              </a:rPr>
              <a:t>methodology check on NASA PCoE MOSFET/IGBT ageing data (external, not ISRO)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4242816"/>
            <a:ext cx="5623560" cy="768096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Arial"/>
              </a:rPr>
              <a:t>What we add to this prior art: </a:t>
            </a:r>
            <a:r>
              <a:rPr sz="1250" b="0" i="0">
                <a:solidFill>
                  <a:srgbClr val="262626"/>
                </a:solidFill>
                <a:latin typeface="Arial"/>
              </a:rPr>
              <a:t>a decision at the 24 h checkpoint (not after burn-in) from lot-relative drift, a calibrated 168 h range, and a REVIEW route with per-part evidence.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1335024"/>
            <a:ext cx="5623560" cy="749808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OFFICIAL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SIH 2026 PS 26170 — AI-Driven Anomaly Detection in Component Burn-In &amp; Screening (ISRO). sih.gov.in/sih2026PS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176272"/>
            <a:ext cx="5623560" cy="1481328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RELIABILITY PRACTICE  (informed the design — no compliance claimed)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AEC-Q001 Rev-D, Guidelines for Part Average Testing, AEC, 2011 — our Module A baseline (DPAT)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ESCC Generic Specification No. 9000, Issue 10, ESA, 2018 — burn-in drift limits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ESCC Detail Specification No. 9202/045, Issue 6, ESA, 2020 — example per-parameter drift limits (IDD ±75 nA; IOL ±15 %)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99632" y="3017520"/>
            <a:ext cx="5623560" cy="2011680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METHOD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Conformal prediction: J. Lei et al., JASA 113(523), 2018 · doi:10.1080/01621459.2017.1307116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Grouped (lot) data: R. Dunn, L. Wasserman, A. Ramdas, JASA 118(544), 2023 · doi:10.1080/01621459.2022.2060112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Degradation: C. J. Lu, W. O. Meeker, Technometrics 35(2), 1993 · doi:10.1080/00401706.1993.10485038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Reject option (REVIEW): C. K. Chow, IEEE Trans. Inf. Theory 16(1), 1970 · doi:10.1109/TIT.1970.1054406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99632" y="1335024"/>
            <a:ext cx="5623560" cy="1591056"/>
          </a:xfrm>
          <a:prstGeom prst="roundRect">
            <a:avLst>
              <a:gd name="adj" fmla="val 12000"/>
            </a:avLst>
          </a:prstGeom>
          <a:solidFill>
            <a:srgbClr val="E4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PRIOR ART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Burn-in ML: I. Ahmed, P. Baraldi, E. Zio, H. Lewitschnig, Comput. Ind. Eng. 204, 111115, 2025 · doi:10.1016/j.cie.2025.111115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Lot health for burn-in: L. Langenberg, R. Pätzold, A. Khalid, “Process Data Analysis for Improved Burn-In Strategies Based on Complementary AI Models”, ESREL 2023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262626"/>
                </a:solidFill>
                <a:latin typeface="Arial"/>
              </a:rPr>
              <a:t>Burn-in outliers: US 8,010,310 B2, Method and apparatus for identifying outliers following burn-in testing, 2011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5138928"/>
            <a:ext cx="11457432" cy="1133856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OUR OWN EVIDENCE — CHECK IT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Code: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github.com/Mrudula211/AgniDrishti/tree/p1-synthetic-data</a:t>
            </a:r>
            <a:r>
              <a:rPr sz="1250" b="0" i="0">
                <a:solidFill>
                  <a:srgbClr val="FFFFFF"/>
                </a:solidFill>
                <a:latin typeface="Arial"/>
              </a:rPr>
              <a:t> · commit 1f5d29a · 111 tests · E1–E6 frozen before test lots were scored once</a:t>
            </a:r>
          </a:p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Final unseen test: </a:t>
            </a:r>
            <a:r>
              <a:rPr sz="1250" b="0" i="0">
                <a:solidFill>
                  <a:srgbClr val="FFFFFF"/>
                </a:solidFill>
                <a:latin typeface="Arial"/>
              </a:rPr>
              <a:t>two behaviour families sealed 26 Sep 2026 (SHA-256 1a7de276…), not yet opened.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2566</Words>
  <Application>Microsoft Office PowerPoint</Application>
  <PresentationFormat>Widescreen</PresentationFormat>
  <Paragraphs>304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AgniDrishti Static screening → trajectory-aware burn-in screening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Mrudula Gharat</cp:lastModifiedBy>
  <cp:revision>150</cp:revision>
  <dcterms:created xsi:type="dcterms:W3CDTF">2013-12-12T18:46:50Z</dcterms:created>
  <dcterms:modified xsi:type="dcterms:W3CDTF">2026-09-26T09:24:44Z</dcterms:modified>
  <cp:category/>
</cp:coreProperties>
</file>