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566" y="6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AgniDrishti, team Regnum Carya, SIH 2026 PS 26170 (ISRO).</a:t>
            </a:r>
          </a:p>
          <a:p>
            <a:r>
              <a:t>10-second pitch: static limits pass an in-spec part even when it is abnormal for its lot or drifting. AgniDrishti flags it at hour 24, forecasts 168 h with a calibrated range, and sends any doubt to an engineer with the rule that fired — never a silent PASS.</a:t>
            </a:r>
          </a:p>
          <a:p>
            <a:r>
              <a:t>Before upload: replace the Team ID text once the portal assigns it; export to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ONE MESSAGE: in spec is not the same as healthy. The chart is one real row from the frozen pipeline on held-out SYNTHETIC test lots (run artifacts/metrics/E1-E6_test/20260926-144448_c8ca99b): SYN-L026-C0010 Iddq, 12.34 uA at 24 h (limit 30 uA), drift 42.7 robust sigma from its lot -&gt; REJECT (R2). Its 96 h and 168 h values (22.3, 32.0 uA) were revealed only after the decision, for evaluation.</a:t>
            </a:r>
          </a:p>
          <a:p>
            <a:r>
              <a:t>Same pattern as the PS's own illustration (lot 10 uA, part 45 uA, limit 50 uA).</a:t>
            </a:r>
          </a:p>
          <a:p>
            <a:r>
              <a:t>Honest detail: the 168 h point forecast (12.45 uA) under-predicted this part; the catch came from the lot-relative drift and the safety-slope rule.</a:t>
            </a:r>
          </a:p>
          <a:p>
            <a:r>
              <a:t>Tiles: recall on the primary proxy label (drift &gt; 15 % of the 0 h value by 168 h, or 168 h outside the limit), 30 positive rows, REVIEW counted as flagged. E1 0.133, E2 0.133, E3 0.667, E6 0.800 at 10.4 % review. Rates are imprecise with 30 positives.</a:t>
            </a:r>
          </a:p>
          <a:p>
            <a:r>
              <a:t>DPAT is our Module A baseline, not our invention: what we add is lot-relative drift at 24 h, a calibrated 168 h range, and a REVIEW state.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ONE MESSAGE: a simple, layered pipeline where every layer had to earn its place in a recorded ablation.</a:t>
            </a:r>
          </a:p>
          <a:p>
            <a:r>
              <a:t>Runs: test artifacts/metrics/E1-E6_test/20260926-144448_c8ca99b (frozen specs from validation run 20260926-144425_c8ca99b); Module B MAE from the validation lots (ablation-plan section 3). Label: primary proxy label, Delta_allow 0.15 relative (ADR-002/004). Precision at E6 is 0.092 (FPR 0.101): the cost of high recall is a 10.4 % review queue.</a:t>
            </a:r>
          </a:p>
          <a:p>
            <a:r>
              <a:t>Predictors compared (simplest first): persistence, linear extrapolation, population increment, linear regression; population increment won on validation MAE.</a:t>
            </a:r>
          </a:p>
          <a:p>
            <a:r>
              <a:t>Interval: split-conformal, target 90 % marginal coverage; per-lot coverage 0.668-0.980 on validation (lots break exchangeability). Not a failure probability.</a:t>
            </a:r>
          </a:p>
          <a:p>
            <a:r>
              <a:t>MAD = 0 / small lots: quality gate flags the lot (min 20 parts) and a scale floor applies -&gt; REVIEW, never PASS.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ONE MESSAGE: every known risk has a concrete mitigation, and the system is already built and verifiable.</a:t>
            </a:r>
          </a:p>
          <a:p>
            <a:r>
              <a:t>[FACT] No official dataset is published for PS 26170 (verified 2026-09-26). Evaluators hold hidden ground truth.</a:t>
            </a:r>
          </a:p>
          <a:p>
            <a:r>
              <a:t>Synthetic data is ours, always labelled SYNTHETIC, never presented as ISRO data. NASA PCoE data: planned methodology check, not yet run.</a:t>
            </a:r>
          </a:p>
          <a:p>
            <a:r>
              <a:t>Escapes and false rejects are from the final test run (ablation-plan section 5, F5/F6). The v1 test split is spent: rule changes need new pre-registered data.</a:t>
            </a:r>
          </a:p>
          <a:p>
            <a:r>
              <a:t>Timing and replay: service run 20260929-035534_1f5d29a on the frozen pipeline; decisions identical to the recorded test run (2107 / 247 / 14).</a:t>
            </a:r>
          </a:p>
          <a:p>
            <a:r>
              <a:t>Held-out families: written by the team outside the repository; only the SHA-256 commitment is in the repo (synthetic-data-design section 7). Not yet opened.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ONE MESSAGE: the same burn-in, but the engineer sees risk at 24 h with the evidence.</a:t>
            </a:r>
          </a:p>
          <a:p>
            <a:r>
              <a:t>Decision shares and 24/30 vs 4/30 come from the held-out synthetic test run (c8ca99b). They are not ISRO results.</a:t>
            </a:r>
          </a:p>
          <a:p>
            <a:r>
              <a:t>144 / 168 chamber-hours is arithmetic from the PS timeline (168 - 24 = 144); do not multiply it by a guessed reject rate.</a:t>
            </a:r>
          </a:p>
          <a:p>
            <a:r>
              <a:t>The burn-in procedure itself is not changed; AgniDrishti adds an earlier, advisory view with a human decision.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ONE MESSAGE: every design choice traces to an official source, an established reliability practice or published method research — and our own evidence can be checked in the repository.</a:t>
            </a:r>
          </a:p>
          <a:p>
            <a:r>
              <a:t>AEC-Q001 and ESCC informed the design; no compliance is claimed. NASA PCoE data is external public data, planned for a methodology check (R-01..R-04 not yet executed).</a:t>
            </a:r>
          </a:p>
          <a:p>
            <a:r>
              <a:t>The repository must be public before upload, otherwise remove the link.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400800" cy="4582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4000" b="1" i="0">
                <a:solidFill>
                  <a:srgbClr val="C55A11"/>
                </a:solidFill>
                <a:latin typeface="Arial"/>
              </a:rPr>
              <a:t>AgniDrishti</a:t>
            </a:r>
          </a:p>
          <a:p>
            <a:pPr algn="l">
              <a:spcAft>
                <a:spcPts val="1400"/>
              </a:spcAft>
              <a:buNone/>
            </a:pPr>
            <a:r>
              <a:rPr lang="en-US" sz="1600" b="1" i="1">
                <a:solidFill>
                  <a:srgbClr val="1F3864"/>
                </a:solidFill>
                <a:latin typeface="Arial"/>
              </a:rPr>
              <a:t>Catch the drifting in-spec part at hour 24, not 168.</a:t>
            </a:r>
          </a:p>
          <a:p>
            <a:pPr marL="285750" indent="-28575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sz="1800" b="0" dirty="0">
                <a:solidFill>
                  <a:srgbClr val="0070C0"/>
                </a:solidFill>
                <a:latin typeface="Arial"/>
              </a:rPr>
              <a:t> 26170</a:t>
            </a:r>
          </a:p>
          <a:p>
            <a:pPr marL="285750" indent="-28575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sz="1800" b="0" dirty="0">
                <a:solidFill>
                  <a:srgbClr val="0070C0"/>
                </a:solidFill>
                <a:latin typeface="Arial"/>
              </a:rPr>
              <a:t> AI-Driven Anomaly Detection in Component Burn-In &amp; Screening</a:t>
            </a:r>
          </a:p>
          <a:p>
            <a:pPr marL="285750" indent="-28575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sz="1800" b="0" dirty="0">
                <a:solidFill>
                  <a:srgbClr val="0070C0"/>
                </a:solidFill>
                <a:latin typeface="Arial"/>
              </a:rPr>
              <a:t> Smart Automation</a:t>
            </a:r>
          </a:p>
          <a:p>
            <a:pPr marL="285750" indent="-28575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r>
              <a:rPr sz="1800" b="0" dirty="0">
                <a:solidFill>
                  <a:srgbClr val="0070C0"/>
                </a:solidFill>
                <a:latin typeface="Arial"/>
              </a:rPr>
              <a:t> (to be assigned on the SIH portal)</a:t>
            </a:r>
          </a:p>
          <a:p>
            <a:pPr marL="285750" indent="-28575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Name- </a:t>
            </a:r>
            <a:r>
              <a:rPr lang="en-US" sz="1800" dirty="0">
                <a:solidFill>
                  <a:srgbClr val="0070C0"/>
                </a:solidFill>
                <a:latin typeface="Arial"/>
              </a:rPr>
              <a:t>Regnum Carya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37360" y="91440"/>
            <a:ext cx="7863840" cy="960120"/>
          </a:xfrm>
        </p:spPr>
        <p:txBody>
          <a:bodyPr/>
          <a:lstStyle/>
          <a:p>
            <a:r>
              <a:rPr sz="3000" b="1">
                <a:solidFill>
                  <a:srgbClr val="1F3864"/>
                </a:solidFill>
                <a:latin typeface="Times New Roman"/>
              </a:rPr>
              <a:t>In spec is not the same as healthy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262626"/>
                </a:solidFill>
                <a:latin typeface="Arial"/>
              </a:rPr>
              <a:t>Regnum Carya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65760" y="1005840"/>
            <a:ext cx="77724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65760" y="1316736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65760" y="1572768"/>
            <a:ext cx="11457432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Arial"/>
              </a:rPr>
              <a:t>A burn-in part can pass its datasheet limit yet be abnormal for its own lot or drifting toward failure — the latent defect the PS targets. At the 24 h checkpoint AgniDrishti compares every part with its lot peers, forecasts its 168 h value with a calibrated range, and returns </a:t>
            </a:r>
            <a:r>
              <a:rPr sz="1300" b="1" i="0">
                <a:solidFill>
                  <a:srgbClr val="1F3864"/>
                </a:solidFill>
                <a:latin typeface="Arial"/>
              </a:rPr>
              <a:t>PASS / REVIEW / REJECT</a:t>
            </a:r>
            <a:r>
              <a:rPr sz="1300" b="0" i="0">
                <a:solidFill>
                  <a:srgbClr val="262626"/>
                </a:solidFill>
                <a:latin typeface="Arial"/>
              </a:rPr>
              <a:t> with the rule that fired.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65760" y="2231136"/>
            <a:ext cx="5212080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55A11"/>
                </a:solidFill>
                <a:latin typeface="Arial"/>
              </a:rPr>
              <a:t>REAL RUN</a:t>
            </a:r>
            <a:r>
              <a:rPr sz="1100" b="0" i="0">
                <a:solidFill>
                  <a:srgbClr val="595959"/>
                </a:solidFill>
                <a:latin typeface="Arial"/>
              </a:rPr>
              <a:t> · SYNTHETIC held-out test lot · the datasheet check says PASS</a:t>
            </a:r>
          </a:p>
        </p:txBody>
      </p:sp>
      <p:pic>
        <p:nvPicPr>
          <p:cNvPr id="15366" name="Picture 15365" descr="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2487168"/>
            <a:ext cx="5120640" cy="2715491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5715000" y="2231136"/>
            <a:ext cx="6108192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SAME PART IN THE PROTOTYPE</a:t>
            </a:r>
            <a:r>
              <a:rPr sz="1100" b="0" i="0">
                <a:solidFill>
                  <a:srgbClr val="595959"/>
                </a:solidFill>
                <a:latin typeface="Arial"/>
              </a:rPr>
              <a:t> · screenshot of the evidence card</a:t>
            </a:r>
          </a:p>
        </p:txBody>
      </p:sp>
      <p:pic>
        <p:nvPicPr>
          <p:cNvPr id="15368" name="Picture 15367" descr="ui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2487168"/>
            <a:ext cx="6108192" cy="164184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5369" name="TextBox 15368"/>
          <p:cNvSpPr txBox="1"/>
          <p:nvPr/>
        </p:nvSpPr>
        <p:spPr>
          <a:xfrm>
            <a:off x="5715000" y="4187952"/>
            <a:ext cx="6035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5715000" y="4462272"/>
            <a:ext cx="6108192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Module A  </a:t>
            </a:r>
            <a:r>
              <a:rPr sz="1200" b="0" i="0">
                <a:solidFill>
                  <a:srgbClr val="262626"/>
                </a:solidFill>
                <a:latin typeface="Arial"/>
              </a:rPr>
              <a:t>level and 0→24 h drift vs the part's own lot (robust z)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Module B  </a:t>
            </a:r>
            <a:r>
              <a:rPr sz="1200" b="0" i="0">
                <a:solidFill>
                  <a:srgbClr val="262626"/>
                </a:solidFill>
                <a:latin typeface="Arial"/>
              </a:rPr>
              <a:t>V0h + V24h → V168h forecast with a 90 % calibrated range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Decision  </a:t>
            </a:r>
            <a:r>
              <a:rPr sz="1200" b="0" i="0">
                <a:solidFill>
                  <a:srgbClr val="262626"/>
                </a:solidFill>
                <a:latin typeface="Arial"/>
              </a:rPr>
              <a:t>ordered rules R0–R6 — doubt goes to REVIEW, never PASS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365760" y="5230368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4343400" y="5248656"/>
            <a:ext cx="3108960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Drifting rows caught at 24 h · held-out test lots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365760" y="5486400"/>
            <a:ext cx="1691640" cy="786384"/>
          </a:xfrm>
          <a:prstGeom prst="roundRect">
            <a:avLst>
              <a:gd name="adj" fmla="val 12000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62626"/>
                </a:solidFill>
                <a:latin typeface="Arial"/>
              </a:rPr>
              <a:t>4 / 30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Datasheet limit only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2148840" y="5486400"/>
            <a:ext cx="1691640" cy="786384"/>
          </a:xfrm>
          <a:prstGeom prst="roundRect">
            <a:avLst>
              <a:gd name="adj" fmla="val 12000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62626"/>
                </a:solidFill>
                <a:latin typeface="Arial"/>
              </a:rPr>
              <a:t>4 / 30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+ DPAT lot level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3931920" y="5486400"/>
            <a:ext cx="1691640" cy="786384"/>
          </a:xfrm>
          <a:prstGeom prst="roundRect">
            <a:avLst>
              <a:gd name="adj" fmla="val 12000"/>
            </a:avLst>
          </a:prstGeom>
          <a:solidFill>
            <a:srgbClr val="FB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C55A11"/>
                </a:solidFill>
                <a:latin typeface="Arial"/>
              </a:rPr>
              <a:t>20 / 30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C55A11"/>
                </a:solidFill>
                <a:latin typeface="Arial"/>
              </a:rPr>
              <a:t>+ lot-relative drift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5715000" y="5486400"/>
            <a:ext cx="1691640" cy="786384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24 / 30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AgniDrishti · 10.4 % to REVIEW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7543800" y="5468112"/>
            <a:ext cx="4279392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C55A11"/>
                </a:solidFill>
                <a:latin typeface="Arial"/>
              </a:rPr>
              <a:t>Doubt is never a PASS</a:t>
            </a:r>
            <a:r>
              <a:rPr sz="1200" b="0" i="0">
                <a:solidFill>
                  <a:srgbClr val="262626"/>
                </a:solidFill>
                <a:latin typeface="Arial"/>
              </a:rPr>
              <a:t> — bad data, or a 168 h range that could reach the limit, goes to an engineer. Not a weighted risk score: the rule that fired is the explanation. Every layer stays only if it helps on unseen lots.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262626"/>
                </a:solidFill>
                <a:latin typeface="Arial"/>
              </a:rPr>
              <a:t>Regnum Carya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987552"/>
            <a:ext cx="11457432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Arial"/>
              </a:rPr>
              <a:t>Every layer must beat a simpler baseline on unseen lots — or it is removed.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65760" y="1316736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65760" y="1572768"/>
            <a:ext cx="11457432" cy="4754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Python 3.11 · pandas / NumPy · robust statistics · least-squares forecasts · split-conformal ranges · web service + UI · pytest · YAML config — offline, CPU only.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Learned from historical lots: </a:t>
            </a:r>
            <a:r>
              <a:rPr sz="1200" b="0" i="0">
                <a:solidFill>
                  <a:srgbClr val="262626"/>
                </a:solidFill>
                <a:latin typeface="Arial"/>
              </a:rPr>
              <a:t>forecast model chosen by held-out MAE, 90 % range calibrated on held-out lots, review threshold set on validation lots.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65760" y="21031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778240" y="2121408"/>
            <a:ext cx="3044952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Arial"/>
              </a:rPr>
              <a:t>✓ built and tested (commit 1f5d29a)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65760" y="2395728"/>
            <a:ext cx="1248156" cy="566928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E7D32"/>
                </a:solidFill>
                <a:latin typeface="Arial"/>
              </a:rPr>
              <a:t>✓ </a:t>
            </a:r>
            <a:r>
              <a:rPr sz="1100" b="1" i="0">
                <a:solidFill>
                  <a:srgbClr val="1F3864"/>
                </a:solidFill>
                <a:latin typeface="Arial"/>
              </a:rPr>
              <a:t>Tester export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Arial"/>
              </a:rPr>
              <a:t>any CSV layout</a:t>
            </a:r>
          </a:p>
        </p:txBody>
      </p:sp>
      <p:sp>
        <p:nvSpPr>
          <p:cNvPr id="17416" name="Right Arrow 17415"/>
          <p:cNvSpPr/>
          <p:nvPr/>
        </p:nvSpPr>
        <p:spPr>
          <a:xfrm>
            <a:off x="1645920" y="2606040"/>
            <a:ext cx="146304" cy="146304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1824228" y="2395728"/>
            <a:ext cx="1248156" cy="566928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E7D32"/>
                </a:solidFill>
                <a:latin typeface="Arial"/>
              </a:rPr>
              <a:t>✓ </a:t>
            </a:r>
            <a:r>
              <a:rPr sz="1100" b="1" i="0">
                <a:solidFill>
                  <a:srgbClr val="1F3864"/>
                </a:solidFill>
                <a:latin typeface="Arial"/>
              </a:rPr>
              <a:t>Column map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Arial"/>
              </a:rPr>
              <a:t>site config</a:t>
            </a:r>
          </a:p>
        </p:txBody>
      </p:sp>
      <p:sp>
        <p:nvSpPr>
          <p:cNvPr id="17418" name="Right Arrow 17417"/>
          <p:cNvSpPr/>
          <p:nvPr/>
        </p:nvSpPr>
        <p:spPr>
          <a:xfrm>
            <a:off x="3104388" y="2606040"/>
            <a:ext cx="146304" cy="146304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3282696" y="2395728"/>
            <a:ext cx="1248156" cy="566928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E7D32"/>
                </a:solidFill>
                <a:latin typeface="Arial"/>
              </a:rPr>
              <a:t>✓ </a:t>
            </a:r>
            <a:r>
              <a:rPr sz="1100" b="1" i="0">
                <a:solidFill>
                  <a:srgbClr val="1F3864"/>
                </a:solidFill>
                <a:latin typeface="Arial"/>
              </a:rPr>
              <a:t>Quality gate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Arial"/>
              </a:rPr>
              <a:t>bad data → REVIEW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4562856" y="2606040"/>
            <a:ext cx="146304" cy="146304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4741164" y="2395728"/>
            <a:ext cx="1248156" cy="566928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E7D32"/>
                </a:solidFill>
                <a:latin typeface="Arial"/>
              </a:rPr>
              <a:t>✓ </a:t>
            </a:r>
            <a:r>
              <a:rPr sz="1100" b="1" i="0">
                <a:solidFill>
                  <a:srgbClr val="1F3864"/>
                </a:solidFill>
                <a:latin typeface="Arial"/>
              </a:rPr>
              <a:t>Spec check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Arial"/>
              </a:rPr>
              <a:t>datasheet limit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6021324" y="2606040"/>
            <a:ext cx="146304" cy="146304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6199632" y="2395728"/>
            <a:ext cx="1248156" cy="566928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E7D32"/>
                </a:solidFill>
                <a:latin typeface="Arial"/>
              </a:rPr>
              <a:t>✓ </a:t>
            </a:r>
            <a:r>
              <a:rPr sz="1100" b="1" i="0">
                <a:solidFill>
                  <a:srgbClr val="1F3864"/>
                </a:solidFill>
                <a:latin typeface="Arial"/>
              </a:rPr>
              <a:t>Lot level + drift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Arial"/>
              </a:rPr>
              <a:t>robust z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7479792" y="2606040"/>
            <a:ext cx="146304" cy="146304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7658100" y="2395728"/>
            <a:ext cx="1248156" cy="566928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E7D32"/>
                </a:solidFill>
                <a:latin typeface="Arial"/>
              </a:rPr>
              <a:t>✓ </a:t>
            </a:r>
            <a:r>
              <a:rPr sz="1100" b="1" i="0">
                <a:solidFill>
                  <a:srgbClr val="1F3864"/>
                </a:solidFill>
                <a:latin typeface="Arial"/>
              </a:rPr>
              <a:t>168 h forecast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Arial"/>
              </a:rPr>
              <a:t>+ 90 % range</a:t>
            </a:r>
          </a:p>
        </p:txBody>
      </p:sp>
      <p:sp>
        <p:nvSpPr>
          <p:cNvPr id="17426" name="Right Arrow 17425"/>
          <p:cNvSpPr/>
          <p:nvPr/>
        </p:nvSpPr>
        <p:spPr>
          <a:xfrm>
            <a:off x="8938260" y="2606040"/>
            <a:ext cx="146304" cy="146304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9116568" y="2395728"/>
            <a:ext cx="1248156" cy="56692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✓ </a:t>
            </a:r>
            <a:r>
              <a:rPr sz="1100" b="1" i="0">
                <a:solidFill>
                  <a:srgbClr val="FFFFFF"/>
                </a:solidFill>
                <a:latin typeface="Arial"/>
              </a:rPr>
              <a:t>Ordered rules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R0–R6</a:t>
            </a:r>
          </a:p>
        </p:txBody>
      </p:sp>
      <p:sp>
        <p:nvSpPr>
          <p:cNvPr id="17428" name="Right Arrow 17427"/>
          <p:cNvSpPr/>
          <p:nvPr/>
        </p:nvSpPr>
        <p:spPr>
          <a:xfrm>
            <a:off x="10396728" y="2606040"/>
            <a:ext cx="146304" cy="146304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10575036" y="2395728"/>
            <a:ext cx="1248156" cy="566928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E7D32"/>
                </a:solidFill>
                <a:latin typeface="Arial"/>
              </a:rPr>
              <a:t>✓ </a:t>
            </a:r>
            <a:r>
              <a:rPr sz="1100" b="1" i="0">
                <a:solidFill>
                  <a:srgbClr val="1F3864"/>
                </a:solidFill>
                <a:latin typeface="Arial"/>
              </a:rPr>
              <a:t>Evidence card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Arial"/>
              </a:rPr>
              <a:t>+ audit record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365760" y="3072384"/>
            <a:ext cx="56692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Decision rules — first match wins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365760" y="3364992"/>
            <a:ext cx="38404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R0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49808" y="3364992"/>
            <a:ext cx="4343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Arial"/>
              </a:rPr>
              <a:t>bad or missing data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5120640" y="3374136"/>
            <a:ext cx="896112" cy="210312"/>
          </a:xfrm>
          <a:prstGeom prst="roundRect">
            <a:avLst>
              <a:gd name="adj" fmla="val 12000"/>
            </a:avLst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365760" y="3630168"/>
            <a:ext cx="38404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R1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749808" y="3630168"/>
            <a:ext cx="4343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Arial"/>
              </a:rPr>
              <a:t>outside the datasheet limit now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5120640" y="3639312"/>
            <a:ext cx="896112" cy="210312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REJECT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365760" y="3895344"/>
            <a:ext cx="38404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R2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749808" y="3895344"/>
            <a:ext cx="4343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Arial"/>
              </a:rPr>
              <a:t>drift rate &gt; safety slope, even at the optimistic end of the range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5120640" y="3904487"/>
            <a:ext cx="896112" cy="210312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REJECT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365760" y="4160520"/>
            <a:ext cx="38404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R3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749808" y="4160520"/>
            <a:ext cx="4343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Arial"/>
              </a:rPr>
              <a:t>point or pessimistic end reaches the slope or the limit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5120640" y="4169663"/>
            <a:ext cx="896112" cy="210312"/>
          </a:xfrm>
          <a:prstGeom prst="roundRect">
            <a:avLst>
              <a:gd name="adj" fmla="val 12000"/>
            </a:avLst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365760" y="4425696"/>
            <a:ext cx="38404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R4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749808" y="4425696"/>
            <a:ext cx="4343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Arial"/>
              </a:rPr>
              <a:t>level and drift both ≥ 6 robust σ from the lot (DPAT)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5120640" y="4434840"/>
            <a:ext cx="896112" cy="210312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REJECT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365760" y="4690872"/>
            <a:ext cx="38404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R5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749808" y="4690872"/>
            <a:ext cx="4343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Arial"/>
              </a:rPr>
              <a:t>level or drift ≥ 2.5 robust σ from the lot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5120640" y="4700016"/>
            <a:ext cx="896112" cy="210312"/>
          </a:xfrm>
          <a:prstGeom prst="roundRect">
            <a:avLst>
              <a:gd name="adj" fmla="val 12000"/>
            </a:avLst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365760" y="4956048"/>
            <a:ext cx="384048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R6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749808" y="4956048"/>
            <a:ext cx="4343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626"/>
                </a:solidFill>
                <a:latin typeface="Arial"/>
              </a:rPr>
              <a:t>none of the above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5120640" y="4965192"/>
            <a:ext cx="896112" cy="210312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PASS</a:t>
            </a:r>
          </a:p>
        </p:txBody>
      </p:sp>
      <p:sp>
        <p:nvSpPr>
          <p:cNvPr id="17452" name="Rectangle 17451"/>
          <p:cNvSpPr/>
          <p:nvPr/>
        </p:nvSpPr>
        <p:spPr>
          <a:xfrm>
            <a:off x="365760" y="5266944"/>
            <a:ext cx="5669280" cy="10058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262626"/>
                </a:solidFill>
                <a:latin typeface="Arial"/>
              </a:rPr>
              <a:t>robust z</a:t>
            </a:r>
            <a:r>
              <a:rPr sz="1100" b="0" i="0">
                <a:solidFill>
                  <a:srgbClr val="262626"/>
                </a:solidFill>
                <a:latin typeface="Arial"/>
              </a:rPr>
              <a:t> = (x − lot median) / (IQR / 1.35)   </a:t>
            </a:r>
            <a:r>
              <a:rPr sz="1100" b="1" i="0">
                <a:solidFill>
                  <a:srgbClr val="262626"/>
                </a:solidFill>
                <a:latin typeface="Arial"/>
              </a:rPr>
              <a:t>drift rate</a:t>
            </a:r>
            <a:r>
              <a:rPr sz="1100" b="0" i="0">
                <a:solidFill>
                  <a:srgbClr val="262626"/>
                </a:solidFill>
                <a:latin typeface="Arial"/>
              </a:rPr>
              <a:t> r = (Ŷ168 − V0) / 168 h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262626"/>
                </a:solidFill>
                <a:latin typeface="Arial"/>
              </a:rPr>
              <a:t>safety slope</a:t>
            </a:r>
            <a:r>
              <a:rPr sz="1100" b="0" i="0">
                <a:solidFill>
                  <a:srgbClr val="262626"/>
                </a:solidFill>
                <a:latin typeface="Arial"/>
              </a:rPr>
              <a:t> s = Δallow / 168 h; Δallow = 15 % of V0 per parameter (site config; PS leaves it undefined)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C55A11"/>
                </a:solidFill>
                <a:latin typeface="Arial"/>
              </a:rPr>
              <a:t>PS scoring: </a:t>
            </a:r>
            <a:r>
              <a:rPr sz="1100" b="0" i="0">
                <a:solidFill>
                  <a:srgbClr val="262626"/>
                </a:solidFill>
                <a:latin typeface="Arial"/>
              </a:rPr>
              <a:t>REVIEW and REJECT both count as flagged — a missed defect costs more than a review.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6263640" y="3072384"/>
            <a:ext cx="5559552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Measured: held-out test lots, SYNTHETIC, evaluated once</a:t>
            </a:r>
          </a:p>
        </p:txBody>
      </p:sp>
      <p:graphicFrame>
        <p:nvGraphicFramePr>
          <p:cNvPr id="17454" name="Table 17453"/>
          <p:cNvGraphicFramePr>
            <a:graphicFrameLocks noGrp="1"/>
          </p:cNvGraphicFramePr>
          <p:nvPr/>
        </p:nvGraphicFramePr>
        <p:xfrm>
          <a:off x="6263640" y="3364992"/>
          <a:ext cx="5559552" cy="17154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"/>
                <a:gridCol w="1170432"/>
                <a:gridCol w="1097280"/>
              </a:tblGrid>
              <a:tr h="245059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Cumulative layers (E1–E6)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Review rate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False reject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E1 datasheet limit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0.133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1.2 %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0.0 %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E2 + DPAT lot level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0.133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1.9 %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0.0 %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E3 + lot-relative drift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0.667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3.5 %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0.3 %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E4 + 168 h forecast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0.667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3.3 %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0.3 %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E5 + 90 % range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0.667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3.4 %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0.3 %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Arial"/>
                        </a:rPr>
                        <a:t>E6 full ordered rules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Arial"/>
                        </a:rPr>
                        <a:t>0.800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Arial"/>
                        </a:rPr>
                        <a:t>10.4 %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0.3 %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17455" name="TextBox 17454"/>
          <p:cNvSpPr txBox="1"/>
          <p:nvPr/>
        </p:nvSpPr>
        <p:spPr>
          <a:xfrm>
            <a:off x="6263640" y="5138928"/>
            <a:ext cx="5559552" cy="11704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262626"/>
                </a:solidFill>
                <a:latin typeface="Arial"/>
              </a:rPr>
              <a:t>168 h forecast MAE beats persistence</a:t>
            </a:r>
            <a:r>
              <a:rPr sz="1100" b="0" i="0">
                <a:solidFill>
                  <a:srgbClr val="262626"/>
                </a:solidFill>
                <a:latin typeface="Arial"/>
              </a:rPr>
              <a:t> (validation lots): Iddq 0.297 vs 0.338 µA · tpd 0.047 vs 0.050 ns. Range coverage on test 0.887 (target 0.90).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C55A11"/>
                </a:solidFill>
                <a:latin typeface="Arial"/>
              </a:rPr>
              <a:t>Honest finding: </a:t>
            </a:r>
            <a:r>
              <a:rPr sz="1100" b="0" i="0">
                <a:solidFill>
                  <a:srgbClr val="262626"/>
                </a:solidFill>
                <a:latin typeface="Arial"/>
              </a:rPr>
              <a:t>the gain comes from lot drift; forecast and range added no detection here. Recall target 0.95 not yet met; 30 positives, so rates are imprecise.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262626"/>
                </a:solidFill>
                <a:latin typeface="Arial"/>
              </a:rPr>
              <a:t>No LSTM: </a:t>
            </a:r>
            <a:r>
              <a:rPr sz="1100" b="0" i="0">
                <a:solidFill>
                  <a:srgbClr val="262626"/>
                </a:solidFill>
                <a:latin typeface="Arial"/>
              </a:rPr>
              <a:t>2–4 readings per part — sequence models add opacity, not accuracy.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262626"/>
                </a:solidFill>
                <a:latin typeface="Arial"/>
              </a:rPr>
              <a:t>Regnum Carya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17410" name="Table 17409"/>
          <p:cNvGraphicFramePr>
            <a:graphicFrameLocks noGrp="1"/>
          </p:cNvGraphicFramePr>
          <p:nvPr/>
        </p:nvGraphicFramePr>
        <p:xfrm>
          <a:off x="365760" y="1051560"/>
          <a:ext cx="7040880" cy="5102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42062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Potential challenges and risks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Strategies for overcoming these challenges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Arial"/>
                        </a:rPr>
                        <a:t>No official dataset for PS 26170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Arial"/>
                        </a:rPr>
                        <a:t>Synthetic PS-shaped lots, always labelled; the site-fit script recalibrates on ISRO history (built)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Arial"/>
                        </a:rPr>
                        <a:t>Hidden ground truth; scoring metric undefined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Arial"/>
                        </a:rPr>
                        <a:t>REVIEW + REJECT count as flagged; report recall at a fixed review budget and 168 h MAE vs persistence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Arial"/>
                        </a:rPr>
                        <a:t>“You detect the defects you injected”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Arial"/>
                        </a:rPr>
                        <a:t>2 held-out behaviour families sealed by SHA-256 on 26 Sep 2026, before detector code; test lots evaluated once; leakage tests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Arial"/>
                        </a:rPr>
                        <a:t>Whole lot degrades / contaminated lot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Arial"/>
                        </a:rPr>
                        <a:t>Median / IQR statistics, plus absolute-limit and safety-slope backstops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Arial"/>
                        </a:rPr>
                        <a:t>Safety slope not defined in the PS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Arial"/>
                        </a:rPr>
                        <a:t>Δallow per parameter in site config (default 15 % of V0); sensitivity grid reported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Arial"/>
                        </a:rPr>
                        <a:t>Late-onset defects look healthy at 24 h (6 of 30 test escapes)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Arial"/>
                        </a:rPr>
                        <a:t>Stated limit; re-screen when the 96 h reading arrives (next)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Arial"/>
                        </a:rPr>
                        <a:t>One glitchy 24 h reading → false REJECT (all 6 test false rejects)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Arial"/>
                        </a:rPr>
                        <a:t>Proposed v2: single-jump cases go to REVIEW, not REJECT — to be tested on fresh pre-registered data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Arial"/>
                        </a:rPr>
                        <a:t>Different tester formats and units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Arial"/>
                        </a:rPr>
                        <a:t>Column mapping + unit conversion from a site config file (built)</a:t>
                      </a:r>
                    </a:p>
                  </a:txBody>
                  <a:tcPr marL="54864" marR="54864" marT="22860" marB="22860" anchor="ctr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17411" name="TextBox 17410"/>
          <p:cNvSpPr txBox="1"/>
          <p:nvPr/>
        </p:nvSpPr>
        <p:spPr>
          <a:xfrm>
            <a:off x="7589520" y="1024128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Analysis of the feasibility of the idea</a:t>
            </a:r>
          </a:p>
        </p:txBody>
      </p:sp>
      <p:pic>
        <p:nvPicPr>
          <p:cNvPr id="17412" name="Picture 17411" descr="ui_ru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316736"/>
            <a:ext cx="4233672" cy="175186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7413" name="TextBox 17412"/>
          <p:cNvSpPr txBox="1"/>
          <p:nvPr/>
        </p:nvSpPr>
        <p:spPr>
          <a:xfrm>
            <a:off x="7589520" y="3081528"/>
            <a:ext cx="4233672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  <a:latin typeface="Arial"/>
              </a:rPr>
              <a:t>Live service · run 20260929-035534 · replay → identical decisions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589520" y="3364992"/>
            <a:ext cx="4233672" cy="530352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Technical  </a:t>
            </a:r>
            <a:r>
              <a:rPr sz="1150" b="0" i="0">
                <a:solidFill>
                  <a:srgbClr val="262626"/>
                </a:solidFill>
                <a:latin typeface="Arial"/>
              </a:rPr>
              <a:t>Standard PC, CPU only: 2,368 rows screened in 0.43 s (one recorded run).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589520" y="3950208"/>
            <a:ext cx="4233672" cy="530352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Operational  </a:t>
            </a:r>
            <a:r>
              <a:rPr sz="1150" b="0" i="0">
                <a:solidFill>
                  <a:srgbClr val="262626"/>
                </a:solidFill>
                <a:latin typeface="Arial"/>
              </a:rPr>
              <a:t>Engineer works a ranked REVIEW queue; overrides are logged beside the pipeline decision.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7589520" y="4535424"/>
            <a:ext cx="4233672" cy="530352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Financial  </a:t>
            </a:r>
            <a:r>
              <a:rPr sz="1150" b="0" i="0">
                <a:solidFill>
                  <a:srgbClr val="262626"/>
                </a:solidFill>
                <a:latin typeface="Arial"/>
              </a:rPr>
              <a:t>Open-source stack, no licence or cloud; data never leaves the facility.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7589520" y="5157216"/>
            <a:ext cx="4233672" cy="1115568"/>
          </a:xfrm>
          <a:prstGeom prst="roundRect">
            <a:avLst>
              <a:gd name="adj" fmla="val 12000"/>
            </a:avLst>
          </a:prstGeom>
          <a:solidFill>
            <a:srgbClr val="E8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7D32"/>
                </a:solidFill>
                <a:latin typeface="Arial"/>
              </a:rPr>
              <a:t>Built and verified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✓ all 7 layers   ✓ web UI + CLI   ✓ any-CSV ingest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✓ 111 automated tests pass   ✓ audit record + replay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62626"/>
                </a:solidFill>
                <a:latin typeface="Arial"/>
              </a:rPr>
              <a:t>Code: </a:t>
            </a:r>
            <a:r>
              <a:rPr sz="1100" b="0" i="0">
                <a:solidFill>
                  <a:srgbClr val="0070C0"/>
                </a:solidFill>
                <a:latin typeface="Arial"/>
              </a:rPr>
              <a:t>github.com/Mrudula211/AgniDrishti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262626"/>
                </a:solidFill>
                <a:latin typeface="Arial"/>
              </a:rPr>
              <a:t>Regnum Carya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987552"/>
            <a:ext cx="11457432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Arial"/>
              </a:rPr>
              <a:t>Decide at hour 24 — with evidence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65760" y="1316736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852160" y="1344168"/>
            <a:ext cx="5971032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For: QA and reliability engineers screening space-grade electronics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65760" y="1645920"/>
            <a:ext cx="1463040" cy="420624"/>
          </a:xfrm>
          <a:prstGeom prst="roundRect">
            <a:avLst>
              <a:gd name="adj" fmla="val 1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CONVENTIONAL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1965960" y="1645920"/>
            <a:ext cx="7863840" cy="420624"/>
          </a:xfrm>
          <a:prstGeom prst="roundRect">
            <a:avLst>
              <a:gd name="adj" fmla="val 12000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Burn-in 0 → 168 h — no view of which parts are heading for trouble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9966960" y="1645920"/>
            <a:ext cx="1856231" cy="420624"/>
          </a:xfrm>
          <a:prstGeom prst="roundRect">
            <a:avLst>
              <a:gd name="adj" fmla="val 12000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262626"/>
                </a:solidFill>
                <a:latin typeface="Arial"/>
              </a:rPr>
              <a:t>PASS / FAIL at 168 h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65760" y="2157984"/>
            <a:ext cx="1463040" cy="420624"/>
          </a:xfrm>
          <a:prstGeom prst="roundRect">
            <a:avLst>
              <a:gd name="adj" fmla="val 12000"/>
            </a:avLst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AGNIDRISHTI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1965960" y="2157984"/>
            <a:ext cx="1188720" cy="420624"/>
          </a:xfrm>
          <a:prstGeom prst="roundRect">
            <a:avLst>
              <a:gd name="adj" fmla="val 12000"/>
            </a:avLst>
          </a:prstGeom>
          <a:solidFill>
            <a:srgbClr val="FB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262626"/>
                </a:solidFill>
                <a:latin typeface="Arial"/>
              </a:rPr>
              <a:t>24 h reading</a:t>
            </a:r>
          </a:p>
        </p:txBody>
      </p:sp>
      <p:sp>
        <p:nvSpPr>
          <p:cNvPr id="17418" name="Right Arrow 17417"/>
          <p:cNvSpPr/>
          <p:nvPr/>
        </p:nvSpPr>
        <p:spPr>
          <a:xfrm>
            <a:off x="3182112" y="2295144"/>
            <a:ext cx="146304" cy="146304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3355848" y="2157984"/>
            <a:ext cx="1874519" cy="420624"/>
          </a:xfrm>
          <a:prstGeom prst="roundRect">
            <a:avLst>
              <a:gd name="adj" fmla="val 12000"/>
            </a:avLst>
          </a:prstGeom>
          <a:solidFill>
            <a:srgbClr val="FB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262626"/>
                </a:solidFill>
                <a:latin typeface="Arial"/>
              </a:rPr>
              <a:t>Lot, drift, 168 h range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5257800" y="2295144"/>
            <a:ext cx="146304" cy="146304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5431536" y="2157984"/>
            <a:ext cx="1188720" cy="420624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PASS 89.0 %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675120" y="2157984"/>
            <a:ext cx="1325880" cy="420624"/>
          </a:xfrm>
          <a:prstGeom prst="roundRect">
            <a:avLst>
              <a:gd name="adj" fmla="val 12000"/>
            </a:avLst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REVIEW 10.4 %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8055864" y="2157984"/>
            <a:ext cx="1188720" cy="420624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REJECT 0.6 %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9272016" y="2295144"/>
            <a:ext cx="146304" cy="146304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9445752" y="2157984"/>
            <a:ext cx="2377439" cy="420624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Engineer decides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365760" y="2633472"/>
            <a:ext cx="11457432" cy="246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  <a:latin typeface="Arial"/>
              </a:rPr>
              <a:t>Decision shares measured on the held-out SYNTHETIC test lots (2,368 rows).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365760" y="2889504"/>
            <a:ext cx="114574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At the 24 h checkpoint </a:t>
            </a:r>
            <a:r>
              <a:rPr sz="1300" b="0" i="0">
                <a:solidFill>
                  <a:srgbClr val="262626"/>
                </a:solidFill>
                <a:latin typeface="Arial"/>
              </a:rPr>
              <a:t>the QA engineer gets a ranked REVIEW queue — each part with its numbers, its lot, its forecast range and the rule that fired — and records a decision with a reason.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365760" y="340156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365760" y="3675887"/>
            <a:ext cx="3739896" cy="1225296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RELIABILITY</a:t>
            </a:r>
            <a:r>
              <a:rPr sz="1100" b="0" i="1">
                <a:solidFill>
                  <a:srgbClr val="595959"/>
                </a:solidFill>
                <a:latin typeface="Arial"/>
              </a:rPr>
              <a:t>   Mission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In-spec parts that are abnormal or drifting are surfaced before flight integration. Test lots: 24 of 30 drifting rows flagged at 24 h, vs 4 of 30 by datasheet limits (synthetic).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4224528" y="3675887"/>
            <a:ext cx="3739896" cy="1225296"/>
          </a:xfrm>
          <a:prstGeom prst="roundRect">
            <a:avLst>
              <a:gd name="adj" fmla="val 12000"/>
            </a:avLst>
          </a:prstGeom>
          <a:solidFill>
            <a:srgbClr val="FB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C55A11"/>
                </a:solidFill>
                <a:latin typeface="Arial"/>
              </a:rPr>
              <a:t>CHAMBER TIME</a:t>
            </a:r>
            <a:r>
              <a:rPr sz="1100" b="0" i="1">
                <a:solidFill>
                  <a:srgbClr val="595959"/>
                </a:solidFill>
                <a:latin typeface="Arial"/>
              </a:rPr>
              <a:t>   Economic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A part rejected at 24 h frees 144 of its 168 chamber-hours (86 %). Arithmetic from the PS timeline — not a measured saving.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8083296" y="3675887"/>
            <a:ext cx="3739896" cy="1225296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TRUST</a:t>
            </a:r>
            <a:r>
              <a:rPr sz="1100" b="0" i="1">
                <a:solidFill>
                  <a:srgbClr val="595959"/>
                </a:solidFill>
                <a:latin typeface="Arial"/>
              </a:rPr>
              <a:t>   Operational · security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Every decision is reproducible from its record and runs offline, on-site — burn-in data never leaves the facility.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65760" y="5047488"/>
            <a:ext cx="128016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Future progression</a:t>
            </a:r>
          </a:p>
        </p:txBody>
      </p:sp>
      <p:sp>
        <p:nvSpPr>
          <p:cNvPr id="17433" name="Pentagon 17432"/>
          <p:cNvSpPr/>
          <p:nvPr/>
        </p:nvSpPr>
        <p:spPr>
          <a:xfrm>
            <a:off x="1691640" y="5029200"/>
            <a:ext cx="2651760" cy="713232"/>
          </a:xfrm>
          <a:prstGeom prst="homePlat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PHASE 1 ✓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Synthetic prototype — done</a:t>
            </a:r>
          </a:p>
        </p:txBody>
      </p:sp>
      <p:sp>
        <p:nvSpPr>
          <p:cNvPr id="17434" name="Chevron 17433"/>
          <p:cNvSpPr/>
          <p:nvPr/>
        </p:nvSpPr>
        <p:spPr>
          <a:xfrm>
            <a:off x="4233672" y="5029200"/>
            <a:ext cx="2651760" cy="713232"/>
          </a:xfrm>
          <a:prstGeom prst="chevron">
            <a:avLst/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PHASE 2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Arial"/>
              </a:rPr>
              <a:t>ISRO history · gate ≥ 0.90 coverage/lot</a:t>
            </a:r>
          </a:p>
        </p:txBody>
      </p:sp>
      <p:sp>
        <p:nvSpPr>
          <p:cNvPr id="17435" name="Chevron 17434"/>
          <p:cNvSpPr/>
          <p:nvPr/>
        </p:nvSpPr>
        <p:spPr>
          <a:xfrm>
            <a:off x="6775704" y="5029200"/>
            <a:ext cx="2651760" cy="713232"/>
          </a:xfrm>
          <a:prstGeom prst="chevron">
            <a:avLst/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PHASE 3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Arial"/>
              </a:rPr>
              <a:t>96 h re-screen · more parameters</a:t>
            </a:r>
          </a:p>
        </p:txBody>
      </p:sp>
      <p:sp>
        <p:nvSpPr>
          <p:cNvPr id="17436" name="Chevron 17435"/>
          <p:cNvSpPr/>
          <p:nvPr/>
        </p:nvSpPr>
        <p:spPr>
          <a:xfrm>
            <a:off x="9317736" y="5029200"/>
            <a:ext cx="2651760" cy="713232"/>
          </a:xfrm>
          <a:prstGeom prst="chevron">
            <a:avLst/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PHASE 4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Arial"/>
              </a:rPr>
              <a:t>Tester-log ingestion at the rack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365760" y="5852160"/>
            <a:ext cx="11457432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C55A11"/>
                </a:solidFill>
                <a:latin typeface="Arial"/>
              </a:rPr>
              <a:t>Gains on ISRO hardware will be measured after validation on representative ISRO data.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100" b="1" i="0" u="none">
                <a:solidFill>
                  <a:srgbClr val="262626"/>
                </a:solidFill>
                <a:latin typeface="Arial"/>
              </a:rPr>
              <a:t>Regnum Carya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02412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335024"/>
            <a:ext cx="5623560" cy="1024128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OFFICIAL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SIH 2026 PS 26170 — AI-Driven Anomaly Detection in Component Burn-In &amp; Screening (ISRO). sih.gov.in/sih2026PS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SIH 2026 Guidelines; SIH 2026 Idea Presentation Format — sih.gov.in/letters/2026/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2450592"/>
            <a:ext cx="5623560" cy="1261872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RELIABILITY PRACTICE  (informed the design — no compliance claimed)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AEC-Q001 Rev-D, Guidelines for Part Average Testing, AEC, 2011 — our Module A baseline (DPAT)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ESCC Generic Specification No. 9000, Issue 10, ESA, 2018 — burn-in drift limits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ESCC Detail Specification No. 9202/045, Issue 6, ESA, 2020 — example per-parameter drift limits (IDD ±75 nA; IOL ±15 %)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65760" y="3803904"/>
            <a:ext cx="5623560" cy="1188720"/>
          </a:xfrm>
          <a:prstGeom prst="roundRect">
            <a:avLst>
              <a:gd name="adj" fmla="val 12000"/>
            </a:avLst>
          </a:prstGeom>
          <a:solidFill>
            <a:srgbClr val="FB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55A11"/>
                </a:solidFill>
                <a:latin typeface="Arial"/>
              </a:rPr>
              <a:t>DATA  (external public dataset — not SIH/ISRO data)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NASA PCoE Data Repository — MOSFET Thermal Overstress Aging (Celaya, Saxena, Saha, Goebel)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NASA PCoE — IGBT Accelerated Aging (Celaya, Wysocki, Goebel, 2009)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Downloaded and hashed; planned methodology check only — not yet run.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99632" y="1335024"/>
            <a:ext cx="5623560" cy="1463040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PRIOR ART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Burn-in ML: I. Ahmed, P. Baraldi, E. Zio, H. Lewitschnig, Comput. Ind. Eng. 204, 111115, 2025 · doi:10.1016/j.cie.2025.111115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Lot health for burn-in: L. Langenberg, R. Pätzold, A. Khalid, ESREL 2023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Burn-in outliers: US 8,010,310 B2, Method and apparatus for identifying outliers following burn-in testing, 2011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199632" y="2889504"/>
            <a:ext cx="5623560" cy="2103120"/>
          </a:xfrm>
          <a:prstGeom prst="roundRect">
            <a:avLst>
              <a:gd name="adj" fmla="val 12000"/>
            </a:avLst>
          </a:prstGeom>
          <a:solidFill>
            <a:srgbClr val="E4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METHOD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Conformal prediction: J. Lei et al., JASA 113(523), 2018 · doi:10.1080/01621459.2017.1307116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Grouped (lot) data: R. Dunn, L. Wasserman, A. Ramdas, JASA 118(544), 2023 · doi:10.1080/01621459.2022.2060112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Degradation modelling: C. J. Lu, W. O. Meeker, Technometrics 35(2), 1993 · doi:10.1080/00401706.1993.10485038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Reject option (REVIEW): C. K. Chow, IEEE Trans. Inf. Theory 16(1), 1970 · doi:10.1109/TIT.1970.1054406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65760" y="5120640"/>
            <a:ext cx="11457432" cy="1143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OUR OWN EVIDENCE — CHECK IT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Code: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github.com/Mrudula211/AgniDrishti</a:t>
            </a:r>
            <a:r>
              <a:rPr sz="1200" b="0" i="0">
                <a:solidFill>
                  <a:srgbClr val="FFFFFF"/>
                </a:solidFill>
                <a:latin typeface="Arial"/>
              </a:rPr>
              <a:t> · branch p1-synthetic-data @ 1f5d29a · 111 automated tests · E1–E6 pre-registered before detector code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Held-out behaviour families sealed 26 Sep 2026 </a:t>
            </a:r>
            <a:r>
              <a:rPr sz="1200" b="0" i="0">
                <a:solidFill>
                  <a:srgbClr val="FFFFFF"/>
                </a:solidFill>
                <a:latin typeface="Arial"/>
              </a:rPr>
              <a:t>(SHA-256 1a7de276…) before model tuning — the defence against “you detect what you injected”.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7490</TotalTime>
  <Words>2566</Words>
  <Application>Microsoft Office PowerPoint</Application>
  <PresentationFormat>Widescreen</PresentationFormat>
  <Paragraphs>304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AgniDrishti Static screening → trajectory-aware burn-in screening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Mrudula Gharat</cp:lastModifiedBy>
  <cp:revision>150</cp:revision>
  <dcterms:created xsi:type="dcterms:W3CDTF">2013-12-12T18:46:50Z</dcterms:created>
  <dcterms:modified xsi:type="dcterms:W3CDTF">2026-09-26T09:24:44Z</dcterms:modified>
  <cp:category/>
</cp:coreProperties>
</file>