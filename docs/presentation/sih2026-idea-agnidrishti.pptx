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2000" b="0">
                <a:solidFill>
                  <a:srgbClr val="0070C0"/>
                </a:solidFill>
                <a:latin typeface="Arial"/>
              </a:rPr>
              <a:t> 26170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2000" b="0">
                <a:solidFill>
                  <a:srgbClr val="0070C0"/>
                </a:solidFill>
                <a:latin typeface="Arial"/>
              </a:rPr>
              <a:t> AI-Driven Anomaly Detection in Component Burn-In &amp; Screening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2000" b="0">
                <a:solidFill>
                  <a:srgbClr val="0070C0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2000" b="0">
                <a:solidFill>
                  <a:srgbClr val="0070C0"/>
                </a:solidFill>
                <a:latin typeface="Arial"/>
              </a:rPr>
              <a:t> [TEAM ID]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2000" b="0">
                <a:solidFill>
                  <a:srgbClr val="0070C0"/>
                </a:solidFill>
                <a:latin typeface="Arial"/>
              </a:rPr>
              <a:t> [TEAM NAME]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91440"/>
            <a:ext cx="7863840" cy="960120"/>
          </a:xfrm>
        </p:spPr>
        <p:txBody>
          <a:bodyPr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AgniDrishti</a:t>
            </a:r>
          </a:p>
          <a:p>
            <a:pPr algn="ctr"/>
            <a:r>
              <a:rPr sz="2000" b="1">
                <a:solidFill>
                  <a:srgbClr val="1F3864"/>
                </a:solidFill>
                <a:latin typeface="Times New Roman"/>
              </a:rPr>
              <a:t>Lot-Relative, Drift-Predictive Burn-In Screening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115568"/>
            <a:ext cx="1143000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800" b="1" i="0" u="sng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572768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938528"/>
            <a:ext cx="5669280" cy="658368"/>
          </a:xfrm>
          <a:prstGeom prst="rect">
            <a:avLst/>
          </a:prstGeom>
          <a:solidFill>
            <a:srgbClr val="FBE5D6"/>
          </a:solidFill>
        </p:spPr>
        <p:txBody>
          <a:bodyPr wrap="square" anchor="ctr" tIns="91440" bIns="91440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1200" b="1" i="0" u="none">
                <a:solidFill>
                  <a:srgbClr val="C55A11"/>
                </a:solidFill>
                <a:latin typeface="Arial"/>
              </a:rPr>
              <a:t>PS example: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lot average 10 µA · part at 45 µA · datasheet max 50 µA → a static test says PASS, yet the part is far outside its lot.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2724912"/>
            <a:ext cx="56692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1.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Data-quality gate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missing / invalid data → REVIEW, never PASS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2.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Datasheet limit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the conventional check, kept as the baseline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3.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Module A: lot-relative score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how far the part's value and its 0→24h drift sit from its own lot (robust statistics)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4.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Module B: 168h prediction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Value_0h + Value_24h → predicted Value_168h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5.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Early rejection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predicted drift rate vs a calculated safety slope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6.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Prediction interval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how uncertain the 168h estimate is</a:t>
            </a:r>
          </a:p>
          <a:p>
            <a:pPr marL="0" indent="0">
              <a:spcAft>
                <a:spcPts val="5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7. </a:t>
            </a:r>
            <a:r>
              <a:rPr sz="1300" b="1" i="0" u="none">
                <a:solidFill>
                  <a:srgbClr val="1F3864"/>
                </a:solidFill>
                <a:latin typeface="Arial"/>
              </a:rPr>
              <a:t>Decision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 — PASS / REVIEW / REJECT with an evidence card for the QA inspector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400800" y="1572768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400800" y="1938528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Module A &amp; Module B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implemented exactly as the PS specifies (inputs Value_0h, Value_24h; output Value_168h)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False negatives: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doubtful parts go to REVIEW; when a yes/no flag is needed, REVIEW counts as flagged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Explainability: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every decision shows its values, lot statistics, prediction, interval and the rule that fired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3767328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400800" y="4133087"/>
            <a:ext cx="539496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Builds on proven screening practice: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lot-relative limits (AEC-Q001 Dynamic PAT) and burn-in drift limits (ESCC 9000)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Adds what they lack: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predicting end-of-burn-in drift at 24h, judged against a drift allowance and the lot, with a lot-aware prediction interval and a REVIEW path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Transparent by design: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explanations are the actual decision evidence, not a post-hoc attribution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444752"/>
            <a:ext cx="11338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Proposed: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Python 3.11 · NumPy · pandas · pytest · version-controlled YAML configs · lightweight demo UI (chosen later) · no GPU needed; runs offline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847088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2286000"/>
            <a:ext cx="1216152" cy="71323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Lot data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 24h</a:t>
            </a:r>
          </a:p>
        </p:txBody>
      </p:sp>
      <p:sp>
        <p:nvSpPr>
          <p:cNvPr id="17414" name="Isosceles Triangle 17413"/>
          <p:cNvSpPr/>
          <p:nvPr/>
        </p:nvSpPr>
        <p:spPr>
          <a:xfrm rot="5400000">
            <a:off x="1682496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1856232" y="2286000"/>
            <a:ext cx="1216152" cy="71323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Quality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gate</a:t>
            </a:r>
          </a:p>
        </p:txBody>
      </p:sp>
      <p:sp>
        <p:nvSpPr>
          <p:cNvPr id="17416" name="Isosceles Triangle 17415"/>
          <p:cNvSpPr/>
          <p:nvPr/>
        </p:nvSpPr>
        <p:spPr>
          <a:xfrm rot="5400000">
            <a:off x="3127248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3300984" y="2286000"/>
            <a:ext cx="1216152" cy="71323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Datasheet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limit</a:t>
            </a:r>
          </a:p>
        </p:txBody>
      </p:sp>
      <p:sp>
        <p:nvSpPr>
          <p:cNvPr id="17418" name="Isosceles Triangle 17417"/>
          <p:cNvSpPr/>
          <p:nvPr/>
        </p:nvSpPr>
        <p:spPr>
          <a:xfrm rot="5400000">
            <a:off x="4572000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745736" y="2286000"/>
            <a:ext cx="1216152" cy="713232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Lot score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(level + drift)</a:t>
            </a:r>
          </a:p>
        </p:txBody>
      </p:sp>
      <p:sp>
        <p:nvSpPr>
          <p:cNvPr id="17420" name="Isosceles Triangle 17419"/>
          <p:cNvSpPr/>
          <p:nvPr/>
        </p:nvSpPr>
        <p:spPr>
          <a:xfrm rot="5400000">
            <a:off x="6016752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190488" y="2286000"/>
            <a:ext cx="1216152" cy="713232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Predict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Value_168h</a:t>
            </a:r>
          </a:p>
        </p:txBody>
      </p:sp>
      <p:sp>
        <p:nvSpPr>
          <p:cNvPr id="17422" name="Isosceles Triangle 17421"/>
          <p:cNvSpPr/>
          <p:nvPr/>
        </p:nvSpPr>
        <p:spPr>
          <a:xfrm rot="5400000">
            <a:off x="7461504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7635240" y="2286000"/>
            <a:ext cx="1216152" cy="713232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Drift rate vs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safety slope</a:t>
            </a:r>
          </a:p>
        </p:txBody>
      </p:sp>
      <p:sp>
        <p:nvSpPr>
          <p:cNvPr id="17424" name="Isosceles Triangle 17423"/>
          <p:cNvSpPr/>
          <p:nvPr/>
        </p:nvSpPr>
        <p:spPr>
          <a:xfrm rot="5400000">
            <a:off x="8906256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9079992" y="2286000"/>
            <a:ext cx="1216152" cy="71323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Prediction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interval</a:t>
            </a:r>
          </a:p>
        </p:txBody>
      </p:sp>
      <p:sp>
        <p:nvSpPr>
          <p:cNvPr id="17426" name="Isosceles Triangle 17425"/>
          <p:cNvSpPr/>
          <p:nvPr/>
        </p:nvSpPr>
        <p:spPr>
          <a:xfrm rot="5400000">
            <a:off x="10351008" y="2569464"/>
            <a:ext cx="128016" cy="146304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0524744" y="2286000"/>
            <a:ext cx="1216152" cy="71323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PASS / REVIEW /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REJECT + evidence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745736" y="3026664"/>
            <a:ext cx="1216152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1050" b="1" i="0" u="none">
                <a:solidFill>
                  <a:srgbClr val="C55A11"/>
                </a:solidFill>
                <a:latin typeface="Arial"/>
              </a:rPr>
              <a:t>Module 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190488" y="3026664"/>
            <a:ext cx="2660904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1050" b="1" i="0" u="none">
                <a:solidFill>
                  <a:srgbClr val="C55A11"/>
                </a:solidFill>
                <a:latin typeface="Arial"/>
              </a:rPr>
              <a:t>Module 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65760" y="3346704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Key definitions (our documented choices where the PS is silent)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1480" y="3675887"/>
            <a:ext cx="580644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Lot score: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robust z = (x − lot median) / robust spread; baseline = AEC-Q001 Dynamic PAT (median ± 6·IQR/1.35); MAD variant compared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Drift rate: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r = (Ŷ₁₆₈ − V₀) / 168 h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Safety slope: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s = Δ_allow / 168 h — per-parameter drift allowance (ESCC-style) + datasheet-limit backstop; Δ configurable, its effect tested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168h predictor, simplest first: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persistence → linear extrapolation → lot-median increment → linear regression; advanced models only if they beat these on held-out lots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Uncertainty: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split-conformal prediction interval, calibrated on held-out lots, coverage reported per lot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400800" y="3346704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Validation plan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400800" y="3675887"/>
            <a:ext cx="539496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Leakage-safe: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splits by lot, untouched final test lots, automated tests (no 96h/168h value used at 24h)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6-step ablation: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static → + lot → + drift → + 168h prediction → + uncertainty → full rules; a layer that adds nothing is removed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Data: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synthetic PS-shaped data (held-out scenario families, parameter sweeps) + public NASA ageing data for prediction methodology — always labelled, never presented as ISRO data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Why not LSTM / Transformer: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2–4 measurements per part are too few for sequence models, and they are harder to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4300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536192"/>
            <a:ext cx="406908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8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Light methods: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robust statistics and simple regression — no GPU, designed to run offline on site</a:t>
            </a:r>
          </a:p>
          <a:p>
            <a:pPr marL="201168" indent="-201168">
              <a:spcAft>
                <a:spcPts val="8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Configurable: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every threshold in version-controlled configuration</a:t>
            </a:r>
          </a:p>
          <a:p>
            <a:pPr marL="201168" indent="-201168">
              <a:spcAft>
                <a:spcPts val="8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Auditable: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each decision reproducible from its inputs, config and code version</a:t>
            </a:r>
          </a:p>
          <a:p>
            <a:pPr marL="201168" indent="-201168">
              <a:spcAft>
                <a:spcPts val="8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Incremental path: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data validation → baseline → lot score → prediction → uncertainty → decisions → explanations</a:t>
            </a:r>
          </a:p>
          <a:p>
            <a:pPr marL="201168" indent="-201168">
              <a:spcAft>
                <a:spcPts val="800"/>
              </a:spcAft>
              <a:buFont typeface="Arial"/>
              <a:buChar char="•"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Ready for real data: </a:t>
            </a:r>
            <a:r>
              <a:rPr sz="1200" b="0" i="0" u="none">
                <a:solidFill>
                  <a:srgbClr val="404040"/>
                </a:solidFill>
                <a:latin typeface="Arial"/>
              </a:rPr>
              <a:t>the same pipeline re-runs unchanged when official data is available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800600" y="1188720"/>
          <a:ext cx="699516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51960"/>
              </a:tblGrid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No official dataset (hidden ground truth)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Synthetic PS-shaped data with held-out scenarios + NASA public data; re-run on official data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Safety slope and Anomaly Score not defined in the 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Documented, configurable definitions; sensitivity analysis; clarification sought from organisers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Only 2 measurements at 24h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Simple, stable predictors; honest prediction intervals; REVIEW when unsure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Small, contaminated or mixed lots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Quality checks → REVIEW; drift allowance that does not depend on the lot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A whole lot degrading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Absolute drift allowance + datasheet backstop, not only lot comparison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Data leakage / optimistic results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Lot-grouped splits, frozen test lots, automated leakage tests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Arial"/>
                        </a:rPr>
                        <a:t>Too many REVIEWs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Arial"/>
                        </a:rPr>
                        <a:t>Report the catch-rate vs review-rate trade-off; operating point chosen with users</a:t>
                      </a:r>
                    </a:p>
                  </a:txBody>
                  <a:tcPr marL="73152" marR="73152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430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536192"/>
            <a:ext cx="507492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7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Who: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component screening / QA engineers and reliability engineers for space-grade electronics</a:t>
            </a:r>
          </a:p>
          <a:p>
            <a:pPr marL="201168" indent="-201168">
              <a:spcAft>
                <a:spcPts val="7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Earlier view: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at 24h, see which parts are heading for excessive drift, instead of waiting for 168h</a:t>
            </a:r>
          </a:p>
          <a:p>
            <a:pPr marL="201168" indent="-201168">
              <a:spcAft>
                <a:spcPts val="7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Focused effort: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engineers work the REVIEW queue instead of re-inspecting every part</a:t>
            </a:r>
          </a:p>
          <a:p>
            <a:pPr marL="201168" indent="-201168">
              <a:spcAft>
                <a:spcPts val="7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Trust: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decisions a QA inspector can verify number by number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40690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Future progression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434840"/>
            <a:ext cx="50749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Calibration on real ISRO burn-in data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Multiple parameters per part; cross-lot history</a:t>
            </a:r>
          </a:p>
          <a:p>
            <a:pPr marL="201168" indent="-201168">
              <a:spcAft>
                <a:spcPts val="300"/>
              </a:spcAft>
              <a:buFont typeface="Arial"/>
              <a:buChar char="•"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Integration with test-equipment data logs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852160" y="11430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897880" y="1572768"/>
            <a:ext cx="2834640" cy="16002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007608" y="1682495"/>
            <a:ext cx="2615184" cy="1380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Mission reliability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Fewer latent defects escaping into flight hardware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61120" y="1572768"/>
            <a:ext cx="2834640" cy="16002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9070848" y="1682495"/>
            <a:ext cx="2615184" cy="1380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Economic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Fewer late-stage failures, less rework of assembled hardware, better use of burn-in capacity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897880" y="3401568"/>
            <a:ext cx="2834640" cy="16002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007608" y="3511296"/>
            <a:ext cx="2615184" cy="1380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Operational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Consistent, explainable, auditable screening decisions with a human in the loop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961120" y="3401568"/>
            <a:ext cx="2834640" cy="16002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9070848" y="3511296"/>
            <a:ext cx="2615184" cy="1380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Security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i="0" u="none">
                <a:solidFill>
                  <a:srgbClr val="404040"/>
                </a:solidFill>
                <a:latin typeface="Arial"/>
              </a:rPr>
              <a:t>Runs on-premises — measurement data never leaves the facility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897880" y="5074920"/>
            <a:ext cx="58978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1" u="none">
                <a:solidFill>
                  <a:srgbClr val="C55A11"/>
                </a:solidFill>
                <a:latin typeface="Arial"/>
              </a:rPr>
              <a:t>All benefits are intended outcomes, to be quantified by our experiments — no results are claimed at the idea stage.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500" b="1" i="0" u="none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572768"/>
            <a:ext cx="55778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Problem statement: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SIH 2026 PS 26170, official text — sih.gov.in/sih2026PS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Lot-relative screening: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AEC-Q001 Rev-D, Guidelines for Part Average Testing, Automotive Electronics Council, 2011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Burn-in drift limits: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ESCC Generic Specification No. 9000, Issue 10, ESA, 2018; ESCC Detail Spec. No. 9202/045, Issue 6, 2020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Burn-in ML (prior art):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I. Ahmed, P. Baraldi, E. Zio, H. Lewitschnig, Comput. Ind. Eng. 204, 111115, 2025, doi:10.1016/j.cie.2025.111115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Lot health for burn-in (prior art):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L. Langenberg, R. Pätzold, A. Khalid, ESREL 2023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Burn-in outliers (prior art):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US 8,010,310 B2, Method and apparatus for identifying outliers following burn-in testing, 2011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572768"/>
            <a:ext cx="553212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Prediction intervals: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J. Lei et al., JASA 113(523), 2018, doi:10.1080/01621459.2017.1307116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Grouped (lot) data: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R. Dunn, L. Wasserman, A. Ramdas, JASA 118(544), 2023, doi:10.1080/01621459.2022.2060112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Reject option: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C. K. Chow, IEEE Trans. Inf. Theory 16(1), 1970, doi:10.1109/TIT.1970.1054406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Degradation modelling: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C. J. Lu, W. O. Meeker, Technometrics 35(2), 1993, doi:10.1080/00401706.1993.10485038</a:t>
            </a:r>
          </a:p>
          <a:p>
            <a:pPr marL="201168" indent="-201168">
              <a:spcAft>
                <a:spcPts val="1200"/>
              </a:spcAft>
              <a:buFont typeface="Arial"/>
              <a:buChar char="•"/>
            </a:pPr>
            <a:r>
              <a:rPr sz="1300" b="1" i="0" u="none">
                <a:solidFill>
                  <a:srgbClr val="1F3864"/>
                </a:solidFill>
                <a:latin typeface="Arial"/>
              </a:rPr>
              <a:t>External data: </a:t>
            </a:r>
            <a:r>
              <a:rPr sz="1300" b="0" i="0" u="none">
                <a:solidFill>
                  <a:srgbClr val="404040"/>
                </a:solidFill>
                <a:latin typeface="Arial"/>
              </a:rPr>
              <a:t>NASA PCoE Data Repository — MOSFET Thermal Overstress Aging (Celaya, Saxena, Saha, Goebel); IGBT Accelerated Aging (Celaya, Wysocki, Goebel, 2009)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