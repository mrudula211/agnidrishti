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566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AgniDrishti, team Regnum Carya, SIH 2026 PS 26170 (ISRO): AI-driven anomaly detection in component burn-in and screening.</a:t>
            </a:r>
          </a:p>
          <a:p>
            <a:r>
              <a:t>One-line story: conventional screening asks 'is the part out of spec now?'; AgniDrishti also asks whether it is abnormal for its lot, drifting, where it will be at 168h, how sure we are, and whether an engineer should review it.</a:t>
            </a:r>
          </a:p>
          <a:p>
            <a:r>
              <a:t>Before upload: fill Team ID (still [TEAM ID]) and export to PDF (portal accepts PDF only).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static screening misses in-spec parts that are abnormal or drifting; AgniDrishti screens the trajectory, not just the current value.</a:t>
            </a:r>
          </a:p>
          <a:p>
            <a:endParaRPr/>
          </a:p>
          <a:p>
            <a:r>
              <a:t>[OFFICIAL PS] Static pass/fail limits let latent defects escape (R0). Module A: dynamic, lot-relative outlier detection (the PS's own example: lot average 10 uA, part at 45 uA, datasheet max 50 uA). Module B: Value_0h + Value_24h -&gt; Value_168h; early rejection when the predicted 168h drift rate exceeds a calculated safety slope. False negatives are catastrophic; decisions must be justifiable to a QA inspector.</a:t>
            </a:r>
          </a:p>
          <a:p>
            <a:r>
              <a:t>[PROPOSED] Nine-stage pipeline; REVIEW state for doubtful cases; missing/invalid data -&gt; REVIEW, never PASS; ordered decision rules (no fused risk score).</a:t>
            </a:r>
          </a:p>
          <a:p>
            <a:r>
              <a:t>[CONCEPTUAL] The evidence card is a mock-up. It contains no measured values; placeholders in angle brackets are filled by the pipeline.</a:t>
            </a:r>
          </a:p>
          <a:p>
            <a:r>
              <a:t>[ESTABLISHED] AEC-Q001 part average testing and ESCC 9000 burn-in drift limits are research foundations only; no compliance is claimed.</a:t>
            </a:r>
          </a:p>
          <a:p>
            <a:r>
              <a:t>Differentiation = PS-specific integration and workflow, not novelty of any single technique.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a simple, layered, testable pipeline in which every layer must earn its place in an ablation study.</a:t>
            </a:r>
          </a:p>
          <a:p>
            <a:endParaRPr/>
          </a:p>
          <a:p>
            <a:r>
              <a:t>Proposed engineering definitions (the PS does not define them):</a:t>
            </a:r>
          </a:p>
          <a:p>
            <a:r>
              <a:t>- Lot score: robust z = (x - lot median) / robust spread, for the level and for the 0-&gt;24h drift; baseline spread = IQR/1.35 (as in AEC-Q001 part average testing), MAD variant compared; MAD = 0 handled explicitly.</a:t>
            </a:r>
          </a:p>
          <a:p>
            <a:r>
              <a:t>- Drift rate: r = (Y_hat_168 - V_0) / 168 h (ADR-002, DR-1).</a:t>
            </a:r>
          </a:p>
          <a:p>
            <a:r>
              <a:t>- Safety slope: s = Delta_allow / 168 h, a per-parameter drift allowance in the style of ESCC 9000, plus a datasheet-limit backstop; Delta_allow is a configuration value and its effect is tested by sensitivity analysis (ADR-002, SS-G + SS-D).</a:t>
            </a:r>
          </a:p>
          <a:p>
            <a:r>
              <a:t>- 168h predictors, simplest first: persistence, linear extrapolation, lot-median increment, linear regression.</a:t>
            </a:r>
          </a:p>
          <a:p>
            <a:r>
              <a:t>- Uncertainty: split-conformal prediction interval calibrated on held-out lots; coverage is marginal and reported per lot. It is not a probability of failure.</a:t>
            </a:r>
          </a:p>
          <a:p>
            <a:r>
              <a:t>- Why not LSTM/Transformer: 2-4 measurements per part are too few and harder to explain.</a:t>
            </a:r>
          </a:p>
          <a:p>
            <a:r>
              <a:t>Status: canonical schema and data-quality gate are implemented with unit tests; all other layers are proposed. No performance results exist yet.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every known risk has a concrete mitigation, and the build is incremental and already started.</a:t>
            </a:r>
          </a:p>
          <a:p>
            <a:endParaRPr/>
          </a:p>
          <a:p>
            <a:r>
              <a:t>[FACT] No official dataset is published for PS 26170 (dataset field empty on the SIH portal, verified 2026-09-26); evaluators hold hidden ground truth.</a:t>
            </a:r>
          </a:p>
          <a:p>
            <a:r>
              <a:t>[PROPOSED] Synthetic PS-shaped data is generated by us, labelled SYNTHETIC and never presented as ISRO data. NASA PCoE MOSFET/IGBT aging data is an external public dataset used only to check the prediction methodology; it is not SIH or ISRO data.</a:t>
            </a:r>
          </a:p>
          <a:p>
            <a:r>
              <a:t>[ASSUMPTION] Representative official data will follow the PS's checkpoint structure (e.g. 0h, 24h, 96h, 168h). The schema tolerates missing checkpoints.</a:t>
            </a:r>
          </a:p>
          <a:p>
            <a:r>
              <a:t>[OPEN] Safety-slope and Anomaly Detection Score formulas are not given in the PS; we use a documented, configurable definition and will ask the organisers.</a:t>
            </a:r>
          </a:p>
          <a:p>
            <a:r>
              <a:t>[FACT] Canonical schema and data-quality gate are implemented with unit tests (P1).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the same burn-in, but engineers see risk at 24h and spend their attention where the evidence points.</a:t>
            </a:r>
          </a:p>
          <a:p>
            <a:endParaRPr/>
          </a:p>
          <a:p>
            <a:r>
              <a:t>[OFFICIAL PS] Latent defects that pass absolute limits can escape into payloads and cause field failures (R0).</a:t>
            </a:r>
          </a:p>
          <a:p>
            <a:r>
              <a:t>[PROPOSED / INTENDED] Reliability, efficiency and trust are intended outcomes, not measured results. No percentage, cost or time saving is claimed.</a:t>
            </a:r>
          </a:p>
          <a:p>
            <a:r>
              <a:t>[ASSUMPTION] The burn-in procedure itself is not changed by AgniDrishti; it adds an earlier, advisory view.</a:t>
            </a:r>
          </a:p>
          <a:p>
            <a:r>
              <a:t>Future progression phases 2-4 depend on access to representative ISRO burn-in data.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every design choice traces to an official source, an established reliability concept, or published method research.</a:t>
            </a:r>
          </a:p>
          <a:p>
            <a:endParaRPr/>
          </a:p>
          <a:p>
            <a:r>
              <a:t>Official: PS 26170 text retrieved 2026-09-26 from sih.gov.in/sih2026PS; SIH 2026 Guidelines and Idea Presentation Format from sih.gov.in/letters/2026/.</a:t>
            </a:r>
          </a:p>
          <a:p>
            <a:r>
              <a:t>AEC-Q001 and ESCC are research foundations; AgniDrishti claims no compliance with either.</a:t>
            </a:r>
          </a:p>
          <a:p>
            <a:r>
              <a:t>NASA PCoE datasets are external public data, used only to check prediction methodology.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582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000" b="1" i="0">
                <a:solidFill>
                  <a:srgbClr val="C55A11"/>
                </a:solidFill>
                <a:latin typeface="Arial"/>
              </a:rPr>
              <a:t>AgniDrishti</a:t>
            </a:r>
          </a:p>
          <a:p>
            <a:pPr algn="l">
              <a:spcAft>
                <a:spcPts val="1400"/>
              </a:spcAft>
              <a:buNone/>
            </a:pPr>
            <a:r>
              <a:rPr lang="en-US" sz="1800" b="0" i="1">
                <a:solidFill>
                  <a:srgbClr val="1F3864"/>
                </a:solidFill>
                <a:latin typeface="Arial"/>
              </a:rPr>
              <a:t>Static screening  →  trajectory-aware burn-in screening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26170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AI-Driven Anomaly Detection in Component Burn-In &amp; Screening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[TEAM ID]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1800" dirty="0">
                <a:solidFill>
                  <a:srgbClr val="0070C0"/>
                </a:solidFill>
                <a:latin typeface="Arial"/>
              </a:rPr>
              <a:t>Regnum Carya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91440"/>
            <a:ext cx="7863840" cy="960120"/>
          </a:xfrm>
        </p:spPr>
        <p:txBody>
          <a:bodyPr/>
          <a:lstStyle/>
          <a:p>
            <a:pPr algn="ctr"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AgniDrishti</a:t>
            </a:r>
          </a:p>
          <a:p>
            <a:pPr algn="ctr"/>
            <a:r>
              <a:rPr sz="2000" b="1">
                <a:solidFill>
                  <a:srgbClr val="1F3864"/>
                </a:solidFill>
                <a:latin typeface="Times New Roman"/>
              </a:rPr>
              <a:t>Static screening → trajectory-aware burn-in screening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069848"/>
            <a:ext cx="6949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 u="sng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452360" y="1115568"/>
            <a:ext cx="6858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 u="none">
                <a:solidFill>
                  <a:srgbClr val="595959"/>
                </a:solidFill>
                <a:latin typeface="Arial"/>
              </a:rPr>
              <a:t>Labels: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202168" y="1124712"/>
            <a:ext cx="1115568" cy="20116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 u="none">
                <a:solidFill>
                  <a:srgbClr val="FFFFFF"/>
                </a:solidFill>
                <a:latin typeface="Arial"/>
              </a:rPr>
              <a:t>OFFICIAL PS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90888" y="1124712"/>
            <a:ext cx="1115568" cy="20116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 u="none">
                <a:solidFill>
                  <a:srgbClr val="FFFFFF"/>
                </a:solidFill>
                <a:latin typeface="Arial"/>
              </a:rPr>
              <a:t>PROPOSED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10579608" y="1124712"/>
            <a:ext cx="1243584" cy="201168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 u="none">
                <a:solidFill>
                  <a:srgbClr val="FFFFFF"/>
                </a:solidFill>
                <a:latin typeface="Arial"/>
              </a:rPr>
              <a:t>CONCEPTUAL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65760" y="14264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65760" y="1755648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369" name="TextBox 15368"/>
          <p:cNvSpPr txBox="1"/>
          <p:nvPr/>
        </p:nvSpPr>
        <p:spPr>
          <a:xfrm>
            <a:off x="502920" y="180136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 u="none">
                <a:solidFill>
                  <a:srgbClr val="404040"/>
                </a:solidFill>
                <a:latin typeface="Arial"/>
              </a:rPr>
              <a:t>CONVENTIONAL  </a:t>
            </a:r>
            <a:r>
              <a:rPr sz="1050" b="0" i="1" u="none">
                <a:solidFill>
                  <a:srgbClr val="595959"/>
                </a:solidFill>
                <a:latin typeface="Arial"/>
              </a:rPr>
              <a:t>asks: “Is it outside its specification NOW?”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846320" y="1828800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 u="none">
                <a:solidFill>
                  <a:srgbClr val="FFFFFF"/>
                </a:solidFill>
                <a:latin typeface="Arial"/>
              </a:rPr>
              <a:t>OFFICIAL PS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502920" y="2093976"/>
            <a:ext cx="1325880" cy="301752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Current value</a:t>
            </a:r>
          </a:p>
        </p:txBody>
      </p:sp>
      <p:cxnSp>
        <p:nvCxnSpPr>
          <p:cNvPr id="15372" name="Connector 15371"/>
          <p:cNvCxnSpPr/>
          <p:nvPr/>
        </p:nvCxnSpPr>
        <p:spPr>
          <a:xfrm>
            <a:off x="1847088" y="2244852"/>
            <a:ext cx="237743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73" name="Rounded Rectangle 15372"/>
          <p:cNvSpPr/>
          <p:nvPr/>
        </p:nvSpPr>
        <p:spPr>
          <a:xfrm>
            <a:off x="2103120" y="2093976"/>
            <a:ext cx="1325880" cy="301752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Datasheet limit</a:t>
            </a:r>
          </a:p>
        </p:txBody>
      </p:sp>
      <p:cxnSp>
        <p:nvCxnSpPr>
          <p:cNvPr id="15374" name="Connector 15373"/>
          <p:cNvCxnSpPr/>
          <p:nvPr/>
        </p:nvCxnSpPr>
        <p:spPr>
          <a:xfrm>
            <a:off x="3447288" y="2244852"/>
            <a:ext cx="23774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75" name="Rounded Rectangle 15374"/>
          <p:cNvSpPr/>
          <p:nvPr/>
        </p:nvSpPr>
        <p:spPr>
          <a:xfrm>
            <a:off x="3703320" y="2093976"/>
            <a:ext cx="1325880" cy="301752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PASS / FAIL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502920" y="2432304"/>
            <a:ext cx="5212080" cy="3017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 u="none">
                <a:solidFill>
                  <a:srgbClr val="C00000"/>
                </a:solidFill>
                <a:latin typeface="Arial"/>
              </a:rPr>
              <a:t>Blind spot: </a:t>
            </a:r>
            <a:r>
              <a:rPr sz="950" b="0" i="0" u="none">
                <a:solidFill>
                  <a:srgbClr val="262626"/>
                </a:solidFill>
                <a:latin typeface="Arial"/>
              </a:rPr>
              <a:t>a part can pass the absolute limit yet be abnormal for its lot or drifting — the latent defect the PS targets.</a:t>
            </a:r>
          </a:p>
        </p:txBody>
      </p:sp>
      <p:sp>
        <p:nvSpPr>
          <p:cNvPr id="15377" name="Right Arrow 15376"/>
          <p:cNvSpPr/>
          <p:nvPr/>
        </p:nvSpPr>
        <p:spPr>
          <a:xfrm>
            <a:off x="5879592" y="2057400"/>
            <a:ext cx="365760" cy="384048"/>
          </a:xfrm>
          <a:prstGeom prst="rightArrow">
            <a:avLst/>
          </a:prstGeom>
          <a:solidFill>
            <a:srgbClr val="C55A1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78" name="Rounded Rectangle 15377"/>
          <p:cNvSpPr/>
          <p:nvPr/>
        </p:nvSpPr>
        <p:spPr>
          <a:xfrm>
            <a:off x="6309360" y="1755648"/>
            <a:ext cx="5513832" cy="100584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379" name="TextBox 15378"/>
          <p:cNvSpPr txBox="1"/>
          <p:nvPr/>
        </p:nvSpPr>
        <p:spPr>
          <a:xfrm>
            <a:off x="6446520" y="1801368"/>
            <a:ext cx="4297680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 u="none">
                <a:solidFill>
                  <a:srgbClr val="C55A11"/>
                </a:solidFill>
                <a:latin typeface="Arial"/>
              </a:rPr>
              <a:t>TRAJECTORY-AWARE  </a:t>
            </a:r>
            <a:r>
              <a:rPr sz="1050" b="0" i="1" u="none">
                <a:solidFill>
                  <a:srgbClr val="595959"/>
                </a:solidFill>
                <a:latin typeface="Arial"/>
              </a:rPr>
              <a:t>AgniDrishti also asks: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10835640" y="1828800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 u="none">
                <a:solidFill>
                  <a:srgbClr val="FFFFFF"/>
                </a:solidFill>
                <a:latin typeface="Arial"/>
              </a:rPr>
              <a:t>PROPOSED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6446520" y="2084831"/>
            <a:ext cx="25146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1000" b="1" i="0" u="none">
                <a:solidFill>
                  <a:srgbClr val="C55A11"/>
                </a:solidFill>
                <a:latin typeface="Arial"/>
              </a:rPr>
              <a:t>1 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Abnormal vs its lot peers?</a:t>
            </a:r>
          </a:p>
          <a:p>
            <a:pPr algn="l">
              <a:spcAft>
                <a:spcPts val="100"/>
              </a:spcAft>
            </a:pPr>
            <a:r>
              <a:rPr sz="1000" b="1" i="0" u="none">
                <a:solidFill>
                  <a:srgbClr val="C55A11"/>
                </a:solidFill>
                <a:latin typeface="Arial"/>
              </a:rPr>
              <a:t>2 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Drifting abnormally?</a:t>
            </a:r>
          </a:p>
          <a:p>
            <a:pPr algn="l">
              <a:spcAft>
                <a:spcPts val="100"/>
              </a:spcAft>
            </a:pPr>
            <a:r>
              <a:rPr sz="1000" b="1" i="0" u="none">
                <a:solidFill>
                  <a:srgbClr val="C55A11"/>
                </a:solidFill>
                <a:latin typeface="Arial"/>
              </a:rPr>
              <a:t>3 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Where will it be at 168h?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9098280" y="2084831"/>
            <a:ext cx="265176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1000" b="1" i="0" u="none">
                <a:solidFill>
                  <a:srgbClr val="C55A11"/>
                </a:solidFill>
                <a:latin typeface="Arial"/>
              </a:rPr>
              <a:t>4 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How uncertain is that forecast?</a:t>
            </a:r>
          </a:p>
          <a:p>
            <a:pPr algn="l">
              <a:spcAft>
                <a:spcPts val="100"/>
              </a:spcAft>
            </a:pPr>
            <a:r>
              <a:rPr sz="1000" b="1" i="0" u="none">
                <a:solidFill>
                  <a:srgbClr val="C55A11"/>
                </a:solidFill>
                <a:latin typeface="Arial"/>
              </a:rPr>
              <a:t>5 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Should an engineer review it?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466344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Burn-in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measurements</a:t>
            </a:r>
          </a:p>
        </p:txBody>
      </p:sp>
      <p:cxnSp>
        <p:nvCxnSpPr>
          <p:cNvPr id="15384" name="Connector 15383"/>
          <p:cNvCxnSpPr/>
          <p:nvPr/>
        </p:nvCxnSpPr>
        <p:spPr>
          <a:xfrm>
            <a:off x="1572768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85" name="Rounded Rectangle 15384"/>
          <p:cNvSpPr/>
          <p:nvPr/>
        </p:nvSpPr>
        <p:spPr>
          <a:xfrm>
            <a:off x="1737360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Quality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gate</a:t>
            </a:r>
          </a:p>
        </p:txBody>
      </p:sp>
      <p:cxnSp>
        <p:nvCxnSpPr>
          <p:cNvPr id="15386" name="Connector 15385"/>
          <p:cNvCxnSpPr/>
          <p:nvPr/>
        </p:nvCxnSpPr>
        <p:spPr>
          <a:xfrm>
            <a:off x="2843784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87" name="Rounded Rectangle 15386"/>
          <p:cNvSpPr/>
          <p:nvPr/>
        </p:nvSpPr>
        <p:spPr>
          <a:xfrm>
            <a:off x="3008376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Absolute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spec check</a:t>
            </a:r>
          </a:p>
        </p:txBody>
      </p:sp>
      <p:cxnSp>
        <p:nvCxnSpPr>
          <p:cNvPr id="15388" name="Connector 15387"/>
          <p:cNvCxnSpPr/>
          <p:nvPr/>
        </p:nvCxnSpPr>
        <p:spPr>
          <a:xfrm>
            <a:off x="4114800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89" name="Rounded Rectangle 15388"/>
          <p:cNvSpPr/>
          <p:nvPr/>
        </p:nvSpPr>
        <p:spPr>
          <a:xfrm>
            <a:off x="4279392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Lot-relative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health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5385815" y="3209544"/>
            <a:ext cx="146305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91" name="Rounded Rectangle 15390"/>
          <p:cNvSpPr/>
          <p:nvPr/>
        </p:nvSpPr>
        <p:spPr>
          <a:xfrm>
            <a:off x="5550407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Trajectory /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drift</a:t>
            </a:r>
          </a:p>
        </p:txBody>
      </p:sp>
      <p:cxnSp>
        <p:nvCxnSpPr>
          <p:cNvPr id="15392" name="Connector 15391"/>
          <p:cNvCxnSpPr/>
          <p:nvPr/>
        </p:nvCxnSpPr>
        <p:spPr>
          <a:xfrm>
            <a:off x="6656831" y="3209544"/>
            <a:ext cx="146305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93" name="Rounded Rectangle 15392"/>
          <p:cNvSpPr/>
          <p:nvPr/>
        </p:nvSpPr>
        <p:spPr>
          <a:xfrm>
            <a:off x="6821423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C55A11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0h + 24h →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168h forecast</a:t>
            </a:r>
          </a:p>
        </p:txBody>
      </p:sp>
      <p:cxnSp>
        <p:nvCxnSpPr>
          <p:cNvPr id="15394" name="Connector 15393"/>
          <p:cNvCxnSpPr/>
          <p:nvPr/>
        </p:nvCxnSpPr>
        <p:spPr>
          <a:xfrm>
            <a:off x="7927847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95" name="Rounded Rectangle 15394"/>
          <p:cNvSpPr/>
          <p:nvPr/>
        </p:nvSpPr>
        <p:spPr>
          <a:xfrm>
            <a:off x="8092440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Prediction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uncertainty</a:t>
            </a:r>
          </a:p>
        </p:txBody>
      </p:sp>
      <p:cxnSp>
        <p:nvCxnSpPr>
          <p:cNvPr id="15396" name="Connector 15395"/>
          <p:cNvCxnSpPr/>
          <p:nvPr/>
        </p:nvCxnSpPr>
        <p:spPr>
          <a:xfrm>
            <a:off x="9198863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97" name="Rounded Rectangle 15396"/>
          <p:cNvSpPr/>
          <p:nvPr/>
        </p:nvSpPr>
        <p:spPr>
          <a:xfrm>
            <a:off x="9363456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PASS / REVIEW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/ REJECT</a:t>
            </a:r>
          </a:p>
        </p:txBody>
      </p:sp>
      <p:cxnSp>
        <p:nvCxnSpPr>
          <p:cNvPr id="15398" name="Connector 15397"/>
          <p:cNvCxnSpPr/>
          <p:nvPr/>
        </p:nvCxnSpPr>
        <p:spPr>
          <a:xfrm>
            <a:off x="10469880" y="3209544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5399" name="Rounded Rectangle 15398"/>
          <p:cNvSpPr/>
          <p:nvPr/>
        </p:nvSpPr>
        <p:spPr>
          <a:xfrm>
            <a:off x="10634472" y="2907792"/>
            <a:ext cx="1088136" cy="603504"/>
          </a:xfrm>
          <a:prstGeom prst="roundRect">
            <a:avLst>
              <a:gd name="adj" fmla="val 18000"/>
            </a:avLst>
          </a:prstGeom>
          <a:solidFill>
            <a:srgbClr val="0070C0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Engineer</a:t>
            </a:r>
          </a:p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evidence card</a:t>
            </a:r>
          </a:p>
        </p:txBody>
      </p:sp>
      <p:sp>
        <p:nvSpPr>
          <p:cNvPr id="15400" name="TextBox 15399"/>
          <p:cNvSpPr txBox="1"/>
          <p:nvPr/>
        </p:nvSpPr>
        <p:spPr>
          <a:xfrm>
            <a:off x="1691639" y="3566160"/>
            <a:ext cx="11795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95959"/>
                </a:solidFill>
                <a:latin typeface="Arial"/>
              </a:rPr>
              <a:t>bad data → REVIEW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2962656" y="3566160"/>
            <a:ext cx="11795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95959"/>
                </a:solidFill>
                <a:latin typeface="Arial"/>
              </a:rPr>
              <a:t>conventional check kept</a:t>
            </a:r>
          </a:p>
        </p:txBody>
      </p:sp>
      <p:sp>
        <p:nvSpPr>
          <p:cNvPr id="15402" name="TextBox 15401"/>
          <p:cNvSpPr txBox="1"/>
          <p:nvPr/>
        </p:nvSpPr>
        <p:spPr>
          <a:xfrm>
            <a:off x="9317736" y="3566160"/>
            <a:ext cx="11795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95959"/>
                </a:solidFill>
                <a:latin typeface="Arial"/>
              </a:rPr>
              <a:t>ordered rules incl. safety slope</a:t>
            </a:r>
          </a:p>
        </p:txBody>
      </p:sp>
      <p:sp>
        <p:nvSpPr>
          <p:cNvPr id="15403" name="TextBox 15402"/>
          <p:cNvSpPr txBox="1"/>
          <p:nvPr/>
        </p:nvSpPr>
        <p:spPr>
          <a:xfrm>
            <a:off x="10588752" y="3566160"/>
            <a:ext cx="11795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95959"/>
                </a:solidFill>
                <a:latin typeface="Arial"/>
              </a:rPr>
              <a:t>numbers + rule that fired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4343400" y="3584448"/>
            <a:ext cx="960119" cy="21945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 u="none">
                <a:solidFill>
                  <a:srgbClr val="FFFFFF"/>
                </a:solidFill>
                <a:latin typeface="Arial"/>
              </a:rPr>
              <a:t>PS MODULE A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5490972" y="3575304"/>
            <a:ext cx="3749039" cy="256032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PS MODULE B:  Value_0h + Value_24h → Value_168h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365760" y="3986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 u="none">
                <a:solidFill>
                  <a:srgbClr val="0070C0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3017520" y="3986784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 u="none">
                <a:solidFill>
                  <a:srgbClr val="1F3864"/>
                </a:solidFill>
                <a:latin typeface="Arial"/>
              </a:rPr>
              <a:t>PS: </a:t>
            </a:r>
            <a:r>
              <a:rPr sz="850" b="0" i="0" u="none">
                <a:solidFill>
                  <a:srgbClr val="595959"/>
                </a:solidFill>
                <a:latin typeface="Arial"/>
              </a:rPr>
              <a:t>Module A → lot health · Module B → forecast · doubt → REVIEW · explain → card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8092440" y="3986784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 u="none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409" name="Rounded Rectangle 15408"/>
          <p:cNvSpPr/>
          <p:nvPr/>
        </p:nvSpPr>
        <p:spPr>
          <a:xfrm>
            <a:off x="365760" y="4297680"/>
            <a:ext cx="4343400" cy="1956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410" name="Rounded Rectangle 15409"/>
          <p:cNvSpPr/>
          <p:nvPr/>
        </p:nvSpPr>
        <p:spPr>
          <a:xfrm>
            <a:off x="365760" y="4297680"/>
            <a:ext cx="4343400" cy="29260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</p:spPr>
        <p:txBody>
          <a:bodyPr wrap="square" tIns="27432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</a:rPr>
              <a:t>ENGINEER EVIDENCE CARD</a:t>
            </a:r>
            <a:r>
              <a:rPr sz="850" b="0" i="1" u="none">
                <a:solidFill>
                  <a:srgbClr val="FFE699"/>
                </a:solidFill>
                <a:latin typeface="Arial"/>
              </a:rPr>
              <a:t>     conceptual mock-up · no real data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457200" y="4617720"/>
            <a:ext cx="41605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1" u="none">
                <a:solidFill>
                  <a:srgbClr val="7F7F7F"/>
                </a:solidFill>
                <a:latin typeface="Arial"/>
              </a:rPr>
              <a:t>Component ‹component_id› · Lot ‹lot_id› · checkpoint 24h</a:t>
            </a:r>
          </a:p>
        </p:txBody>
      </p:sp>
      <p:sp>
        <p:nvSpPr>
          <p:cNvPr id="15412" name="TextBox 15411"/>
          <p:cNvSpPr txBox="1"/>
          <p:nvPr/>
        </p:nvSpPr>
        <p:spPr>
          <a:xfrm>
            <a:off x="457200" y="4846320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Current specification</a:t>
            </a:r>
          </a:p>
        </p:txBody>
      </p:sp>
      <p:sp>
        <p:nvSpPr>
          <p:cNvPr id="15413" name="TextBox 15412"/>
          <p:cNvSpPr txBox="1"/>
          <p:nvPr/>
        </p:nvSpPr>
        <p:spPr>
          <a:xfrm>
            <a:off x="2011680" y="4846320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38761D"/>
                </a:solidFill>
                <a:latin typeface="Arial"/>
              </a:rPr>
              <a:t>PASS</a:t>
            </a:r>
            <a:r>
              <a:rPr sz="900" b="0" i="0" u="none">
                <a:solidFill>
                  <a:srgbClr val="262626"/>
                </a:solidFill>
                <a:latin typeface="Arial"/>
              </a:rPr>
              <a:t>  inside datasheet limit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457200" y="5042916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Lot behaviour</a:t>
            </a:r>
          </a:p>
        </p:txBody>
      </p:sp>
      <p:sp>
        <p:nvSpPr>
          <p:cNvPr id="15415" name="TextBox 15414"/>
          <p:cNvSpPr txBox="1"/>
          <p:nvPr/>
        </p:nvSpPr>
        <p:spPr>
          <a:xfrm>
            <a:off x="2011680" y="5042916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C55A11"/>
                </a:solidFill>
                <a:latin typeface="Arial"/>
              </a:rPr>
              <a:t>ABNORMAL</a:t>
            </a:r>
            <a:r>
              <a:rPr sz="900" b="0" i="0" u="none">
                <a:solidFill>
                  <a:srgbClr val="262626"/>
                </a:solidFill>
                <a:latin typeface="Arial"/>
              </a:rPr>
              <a:t>  far from lot median</a:t>
            </a:r>
          </a:p>
        </p:txBody>
      </p:sp>
      <p:sp>
        <p:nvSpPr>
          <p:cNvPr id="15416" name="TextBox 15415"/>
          <p:cNvSpPr txBox="1"/>
          <p:nvPr/>
        </p:nvSpPr>
        <p:spPr>
          <a:xfrm>
            <a:off x="457200" y="5239512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Trajectory (0→24h)</a:t>
            </a:r>
          </a:p>
        </p:txBody>
      </p:sp>
      <p:sp>
        <p:nvSpPr>
          <p:cNvPr id="15417" name="TextBox 15416"/>
          <p:cNvSpPr txBox="1"/>
          <p:nvPr/>
        </p:nvSpPr>
        <p:spPr>
          <a:xfrm>
            <a:off x="2011680" y="5239512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C55A11"/>
                </a:solidFill>
                <a:latin typeface="Arial"/>
              </a:rPr>
              <a:t>DEGRADING</a:t>
            </a:r>
            <a:r>
              <a:rPr sz="900" b="0" i="0" u="none">
                <a:solidFill>
                  <a:srgbClr val="262626"/>
                </a:solidFill>
                <a:latin typeface="Arial"/>
              </a:rPr>
              <a:t>  drift unusual for its lot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457200" y="5436107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Predicted Value_168h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2011680" y="5436107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1" u="none">
                <a:solidFill>
                  <a:srgbClr val="7F7F7F"/>
                </a:solidFill>
                <a:latin typeface="Arial"/>
              </a:rPr>
              <a:t>‹point forecast›</a:t>
            </a:r>
          </a:p>
        </p:txBody>
      </p:sp>
      <p:sp>
        <p:nvSpPr>
          <p:cNvPr id="15420" name="TextBox 15419"/>
          <p:cNvSpPr txBox="1"/>
          <p:nvPr/>
        </p:nvSpPr>
        <p:spPr>
          <a:xfrm>
            <a:off x="457200" y="5632703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Prediction uncertainty</a:t>
            </a:r>
          </a:p>
        </p:txBody>
      </p:sp>
      <p:sp>
        <p:nvSpPr>
          <p:cNvPr id="15421" name="TextBox 15420"/>
          <p:cNvSpPr txBox="1"/>
          <p:nvPr/>
        </p:nvSpPr>
        <p:spPr>
          <a:xfrm>
            <a:off x="2011680" y="5632703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1" u="none">
                <a:solidFill>
                  <a:srgbClr val="7F7F7F"/>
                </a:solidFill>
                <a:latin typeface="Arial"/>
              </a:rPr>
              <a:t>‹prediction interval›</a:t>
            </a:r>
          </a:p>
        </p:txBody>
      </p:sp>
      <p:sp>
        <p:nvSpPr>
          <p:cNvPr id="15422" name="Rounded Rectangle 15421"/>
          <p:cNvSpPr/>
          <p:nvPr/>
        </p:nvSpPr>
        <p:spPr>
          <a:xfrm>
            <a:off x="1965960" y="5843015"/>
            <a:ext cx="777240" cy="169164"/>
          </a:xfrm>
          <a:prstGeom prst="roundRect">
            <a:avLst>
              <a:gd name="adj" fmla="val 40000"/>
            </a:avLst>
          </a:prstGeom>
          <a:solidFill>
            <a:srgbClr val="FFF2CC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423" name="TextBox 15422"/>
          <p:cNvSpPr txBox="1"/>
          <p:nvPr/>
        </p:nvSpPr>
        <p:spPr>
          <a:xfrm>
            <a:off x="457200" y="5829299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Decision</a:t>
            </a:r>
          </a:p>
        </p:txBody>
      </p:sp>
      <p:sp>
        <p:nvSpPr>
          <p:cNvPr id="15424" name="TextBox 15423"/>
          <p:cNvSpPr txBox="1"/>
          <p:nvPr/>
        </p:nvSpPr>
        <p:spPr>
          <a:xfrm>
            <a:off x="2011680" y="5829299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9C6500"/>
                </a:solidFill>
                <a:latin typeface="Arial"/>
              </a:rPr>
              <a:t>REVIEW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457200" y="6025895"/>
            <a:ext cx="1508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595959"/>
                </a:solidFill>
                <a:latin typeface="Arial"/>
              </a:rPr>
              <a:t>Reason</a:t>
            </a:r>
          </a:p>
        </p:txBody>
      </p:sp>
      <p:sp>
        <p:nvSpPr>
          <p:cNvPr id="15426" name="TextBox 15425"/>
          <p:cNvSpPr txBox="1"/>
          <p:nvPr/>
        </p:nvSpPr>
        <p:spPr>
          <a:xfrm>
            <a:off x="2011680" y="6025895"/>
            <a:ext cx="2651760" cy="1965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 u="none">
                <a:solidFill>
                  <a:srgbClr val="262626"/>
                </a:solidFill>
                <a:latin typeface="Arial"/>
              </a:rPr>
              <a:t>rule fired: forecast interval reaches limit; lot outlier</a:t>
            </a:r>
          </a:p>
        </p:txBody>
      </p:sp>
      <p:sp>
        <p:nvSpPr>
          <p:cNvPr id="15427" name="Rounded Rectangle 15426"/>
          <p:cNvSpPr/>
          <p:nvPr/>
        </p:nvSpPr>
        <p:spPr>
          <a:xfrm>
            <a:off x="4892040" y="4297680"/>
            <a:ext cx="3017520" cy="1956816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428" name="TextBox 15427"/>
          <p:cNvSpPr txBox="1"/>
          <p:nvPr/>
        </p:nvSpPr>
        <p:spPr>
          <a:xfrm>
            <a:off x="5001768" y="4352544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 u="none">
                <a:solidFill>
                  <a:srgbClr val="1F3864"/>
                </a:solidFill>
                <a:latin typeface="Arial"/>
              </a:rPr>
              <a:t>What the engineer sees</a:t>
            </a:r>
          </a:p>
        </p:txBody>
      </p:sp>
      <p:sp>
        <p:nvSpPr>
          <p:cNvPr id="15429" name="Rounded Rectangle 15428"/>
          <p:cNvSpPr/>
          <p:nvPr/>
        </p:nvSpPr>
        <p:spPr>
          <a:xfrm>
            <a:off x="6793991" y="4370832"/>
            <a:ext cx="1005840" cy="18288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 u="none">
                <a:solidFill>
                  <a:srgbClr val="FFFFFF"/>
                </a:solidFill>
                <a:latin typeface="Arial"/>
              </a:rPr>
              <a:t>SKETCH · NOT DATA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120640" y="5486400"/>
            <a:ext cx="2514600" cy="274320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txBody>
          <a:bodyPr wrap="square" lIns="45720" tIns="27432" rIns="45720" bIns="27432" anchor="t">
            <a:noAutofit/>
          </a:bodyPr>
          <a:lstStyle/>
          <a:p>
            <a:endParaRPr/>
          </a:p>
        </p:txBody>
      </p:sp>
      <p:sp>
        <p:nvSpPr>
          <p:cNvPr id="15431" name="TextBox 15430"/>
          <p:cNvSpPr txBox="1"/>
          <p:nvPr/>
        </p:nvSpPr>
        <p:spPr>
          <a:xfrm>
            <a:off x="6629400" y="574243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750" b="0" i="0" u="none">
                <a:solidFill>
                  <a:srgbClr val="7F7F7F"/>
                </a:solidFill>
                <a:latin typeface="Arial"/>
              </a:rPr>
              <a:t>lot peers</a:t>
            </a:r>
          </a:p>
        </p:txBody>
      </p:sp>
      <p:cxnSp>
        <p:nvCxnSpPr>
          <p:cNvPr id="15432" name="Connector 15431"/>
          <p:cNvCxnSpPr/>
          <p:nvPr/>
        </p:nvCxnSpPr>
        <p:spPr>
          <a:xfrm>
            <a:off x="5074920" y="4754880"/>
            <a:ext cx="2697479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</p:cxnSp>
      <p:sp>
        <p:nvSpPr>
          <p:cNvPr id="15433" name="TextBox 15432"/>
          <p:cNvSpPr txBox="1"/>
          <p:nvPr/>
        </p:nvSpPr>
        <p:spPr>
          <a:xfrm>
            <a:off x="5093207" y="4599432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0" i="0" u="none">
                <a:solidFill>
                  <a:srgbClr val="C00000"/>
                </a:solidFill>
                <a:latin typeface="Arial"/>
              </a:rPr>
              <a:t>datasheet limit</a:t>
            </a:r>
          </a:p>
        </p:txBody>
      </p:sp>
      <p:cxnSp>
        <p:nvCxnSpPr>
          <p:cNvPr id="15434" name="Connector 15433"/>
          <p:cNvCxnSpPr/>
          <p:nvPr/>
        </p:nvCxnSpPr>
        <p:spPr>
          <a:xfrm>
            <a:off x="5074920" y="5870448"/>
            <a:ext cx="2697479" cy="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</p:cxnSp>
      <p:cxnSp>
        <p:nvCxnSpPr>
          <p:cNvPr id="15435" name="Connector 15434"/>
          <p:cNvCxnSpPr/>
          <p:nvPr/>
        </p:nvCxnSpPr>
        <p:spPr>
          <a:xfrm>
            <a:off x="5212079" y="5870448"/>
            <a:ext cx="0" cy="4572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15436" name="TextBox 15435"/>
          <p:cNvSpPr txBox="1"/>
          <p:nvPr/>
        </p:nvSpPr>
        <p:spPr>
          <a:xfrm>
            <a:off x="4937759" y="5916168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595959"/>
                </a:solidFill>
                <a:latin typeface="Arial"/>
              </a:rPr>
              <a:t>0h</a:t>
            </a:r>
          </a:p>
        </p:txBody>
      </p:sp>
      <p:cxnSp>
        <p:nvCxnSpPr>
          <p:cNvPr id="15437" name="Connector 15436"/>
          <p:cNvCxnSpPr/>
          <p:nvPr/>
        </p:nvCxnSpPr>
        <p:spPr>
          <a:xfrm>
            <a:off x="5545182" y="5870448"/>
            <a:ext cx="0" cy="4572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15438" name="TextBox 15437"/>
          <p:cNvSpPr txBox="1"/>
          <p:nvPr/>
        </p:nvSpPr>
        <p:spPr>
          <a:xfrm>
            <a:off x="5270862" y="5916168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595959"/>
                </a:solidFill>
                <a:latin typeface="Arial"/>
              </a:rPr>
              <a:t>24h</a:t>
            </a:r>
          </a:p>
        </p:txBody>
      </p:sp>
      <p:cxnSp>
        <p:nvCxnSpPr>
          <p:cNvPr id="15439" name="Connector 15438"/>
          <p:cNvCxnSpPr/>
          <p:nvPr/>
        </p:nvCxnSpPr>
        <p:spPr>
          <a:xfrm>
            <a:off x="7543800" y="5870448"/>
            <a:ext cx="0" cy="4572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15440" name="TextBox 15439"/>
          <p:cNvSpPr txBox="1"/>
          <p:nvPr/>
        </p:nvSpPr>
        <p:spPr>
          <a:xfrm>
            <a:off x="7269480" y="5916168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595959"/>
                </a:solidFill>
                <a:latin typeface="Arial"/>
              </a:rPr>
              <a:t>168h</a:t>
            </a:r>
          </a:p>
        </p:txBody>
      </p:sp>
      <p:cxnSp>
        <p:nvCxnSpPr>
          <p:cNvPr id="15441" name="Connector 15440"/>
          <p:cNvCxnSpPr/>
          <p:nvPr/>
        </p:nvCxnSpPr>
        <p:spPr>
          <a:xfrm flipV="1">
            <a:off x="5212079" y="5257800"/>
            <a:ext cx="333103" cy="374904"/>
          </a:xfrm>
          <a:prstGeom prst="line">
            <a:avLst/>
          </a:prstGeom>
          <a:ln w="25400">
            <a:solidFill>
              <a:srgbClr val="C55A11"/>
            </a:solidFill>
          </a:ln>
        </p:spPr>
      </p:cxnSp>
      <p:cxnSp>
        <p:nvCxnSpPr>
          <p:cNvPr id="15442" name="Connector 15441"/>
          <p:cNvCxnSpPr/>
          <p:nvPr/>
        </p:nvCxnSpPr>
        <p:spPr>
          <a:xfrm flipV="1">
            <a:off x="5545182" y="5029200"/>
            <a:ext cx="1998618" cy="228600"/>
          </a:xfrm>
          <a:prstGeom prst="line">
            <a:avLst/>
          </a:prstGeom>
          <a:ln w="19050">
            <a:solidFill>
              <a:srgbClr val="C55A11"/>
            </a:solidFill>
            <a:prstDash val="sysDash"/>
          </a:ln>
        </p:spPr>
      </p:cxnSp>
      <p:cxnSp>
        <p:nvCxnSpPr>
          <p:cNvPr id="15443" name="Connector 15442"/>
          <p:cNvCxnSpPr/>
          <p:nvPr/>
        </p:nvCxnSpPr>
        <p:spPr>
          <a:xfrm>
            <a:off x="7543800" y="4626864"/>
            <a:ext cx="0" cy="676656"/>
          </a:xfrm>
          <a:prstGeom prst="line">
            <a:avLst/>
          </a:prstGeom>
          <a:ln w="28575">
            <a:solidFill>
              <a:srgbClr val="9C6500"/>
            </a:solidFill>
          </a:ln>
        </p:spPr>
      </p:cxnSp>
      <p:cxnSp>
        <p:nvCxnSpPr>
          <p:cNvPr id="15444" name="Connector 15443"/>
          <p:cNvCxnSpPr/>
          <p:nvPr/>
        </p:nvCxnSpPr>
        <p:spPr>
          <a:xfrm>
            <a:off x="7479792" y="4626864"/>
            <a:ext cx="128016" cy="0"/>
          </a:xfrm>
          <a:prstGeom prst="line">
            <a:avLst/>
          </a:prstGeom>
          <a:ln w="28575">
            <a:solidFill>
              <a:srgbClr val="9C6500"/>
            </a:solidFill>
          </a:ln>
        </p:spPr>
      </p:cxnSp>
      <p:cxnSp>
        <p:nvCxnSpPr>
          <p:cNvPr id="15445" name="Connector 15444"/>
          <p:cNvCxnSpPr/>
          <p:nvPr/>
        </p:nvCxnSpPr>
        <p:spPr>
          <a:xfrm>
            <a:off x="7479792" y="5303520"/>
            <a:ext cx="128016" cy="0"/>
          </a:xfrm>
          <a:prstGeom prst="line">
            <a:avLst/>
          </a:prstGeom>
          <a:ln w="28575">
            <a:solidFill>
              <a:srgbClr val="9C6500"/>
            </a:solidFill>
          </a:ln>
        </p:spPr>
      </p:cxnSp>
      <p:sp>
        <p:nvSpPr>
          <p:cNvPr id="15446" name="Oval 15445"/>
          <p:cNvSpPr/>
          <p:nvPr/>
        </p:nvSpPr>
        <p:spPr>
          <a:xfrm>
            <a:off x="5161788" y="5582412"/>
            <a:ext cx="100584" cy="100584"/>
          </a:xfrm>
          <a:prstGeom prst="ellipse">
            <a:avLst/>
          </a:prstGeom>
          <a:solidFill>
            <a:srgbClr val="C55A11"/>
          </a:solidFill>
          <a:ln w="19050">
            <a:solidFill>
              <a:srgbClr val="C55A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47" name="Oval 15446"/>
          <p:cNvSpPr/>
          <p:nvPr/>
        </p:nvSpPr>
        <p:spPr>
          <a:xfrm>
            <a:off x="5494890" y="5207508"/>
            <a:ext cx="100584" cy="100584"/>
          </a:xfrm>
          <a:prstGeom prst="ellipse">
            <a:avLst/>
          </a:prstGeom>
          <a:solidFill>
            <a:srgbClr val="C55A11"/>
          </a:solidFill>
          <a:ln w="19050">
            <a:solidFill>
              <a:srgbClr val="C55A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48" name="Oval 15447"/>
          <p:cNvSpPr/>
          <p:nvPr/>
        </p:nvSpPr>
        <p:spPr>
          <a:xfrm>
            <a:off x="7493508" y="4978908"/>
            <a:ext cx="100584" cy="1005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49" name="TextBox 15448"/>
          <p:cNvSpPr txBox="1"/>
          <p:nvPr/>
        </p:nvSpPr>
        <p:spPr>
          <a:xfrm>
            <a:off x="5636622" y="487375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0" i="0" u="none">
                <a:solidFill>
                  <a:srgbClr val="C55A11"/>
                </a:solidFill>
                <a:latin typeface="Arial"/>
              </a:rPr>
              <a:t>measured: in spec,</a:t>
            </a:r>
          </a:p>
          <a:p>
            <a:pPr algn="l">
              <a:spcAft>
                <a:spcPts val="0"/>
              </a:spcAft>
            </a:pPr>
            <a:r>
              <a:rPr sz="750" b="0" i="0" u="none">
                <a:solidFill>
                  <a:srgbClr val="C55A11"/>
                </a:solidFill>
                <a:latin typeface="Arial"/>
              </a:rPr>
              <a:t>left its lot</a:t>
            </a:r>
          </a:p>
        </p:txBody>
      </p:sp>
      <p:sp>
        <p:nvSpPr>
          <p:cNvPr id="15450" name="TextBox 15449"/>
          <p:cNvSpPr txBox="1"/>
          <p:nvPr/>
        </p:nvSpPr>
        <p:spPr>
          <a:xfrm>
            <a:off x="6309360" y="48006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750" b="1" i="0" u="none">
                <a:solidFill>
                  <a:srgbClr val="9C6500"/>
                </a:solidFill>
                <a:latin typeface="Arial"/>
              </a:rPr>
              <a:t>forecast + interval</a:t>
            </a:r>
          </a:p>
          <a:p>
            <a:pPr algn="r">
              <a:spcAft>
                <a:spcPts val="0"/>
              </a:spcAft>
            </a:pPr>
            <a:r>
              <a:rPr sz="750" b="1" i="0" u="none">
                <a:solidFill>
                  <a:srgbClr val="9C6500"/>
                </a:solidFill>
                <a:latin typeface="Arial"/>
              </a:rPr>
              <a:t>reaches the limit</a:t>
            </a:r>
          </a:p>
        </p:txBody>
      </p:sp>
      <p:sp>
        <p:nvSpPr>
          <p:cNvPr id="15451" name="TextBox 15450"/>
          <p:cNvSpPr txBox="1"/>
          <p:nvPr/>
        </p:nvSpPr>
        <p:spPr>
          <a:xfrm>
            <a:off x="5001768" y="6108192"/>
            <a:ext cx="279806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 u="none">
                <a:solidFill>
                  <a:srgbClr val="9C6500"/>
                </a:solidFill>
                <a:latin typeface="Arial"/>
              </a:rPr>
              <a:t>→ REVIEW</a:t>
            </a:r>
            <a:r>
              <a:rPr sz="850" b="0" i="1" u="none">
                <a:solidFill>
                  <a:srgbClr val="262626"/>
                </a:solidFill>
                <a:latin typeface="Arial"/>
              </a:rPr>
              <a:t>   never a silent PASS</a:t>
            </a:r>
          </a:p>
        </p:txBody>
      </p:sp>
      <p:sp>
        <p:nvSpPr>
          <p:cNvPr id="15452" name="Rounded Rectangle 15451"/>
          <p:cNvSpPr/>
          <p:nvPr/>
        </p:nvSpPr>
        <p:spPr>
          <a:xfrm>
            <a:off x="8092440" y="4297680"/>
            <a:ext cx="3730752" cy="1956816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5453" name="TextBox 15452"/>
          <p:cNvSpPr txBox="1"/>
          <p:nvPr/>
        </p:nvSpPr>
        <p:spPr>
          <a:xfrm>
            <a:off x="8229600" y="4389120"/>
            <a:ext cx="3456432" cy="932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1" u="none">
                <a:solidFill>
                  <a:srgbClr val="1F3864"/>
                </a:solidFill>
                <a:latin typeface="Arial"/>
              </a:rPr>
              <a:t>“Combines static specification screening, lot-relative behaviour, early trajectory analysis, 168h forecasting, uncertainty and explainable review in one screening workflow.”</a:t>
            </a:r>
          </a:p>
        </p:txBody>
      </p:sp>
      <p:sp>
        <p:nvSpPr>
          <p:cNvPr id="15454" name="TextBox 15453"/>
          <p:cNvSpPr txBox="1"/>
          <p:nvPr/>
        </p:nvSpPr>
        <p:spPr>
          <a:xfrm>
            <a:off x="8229600" y="5193792"/>
            <a:ext cx="3456432" cy="10058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i="0" u="none">
                <a:solidFill>
                  <a:srgbClr val="262626"/>
                </a:solidFill>
                <a:latin typeface="Arial"/>
              </a:rPr>
              <a:t>Transparent by design: </a:t>
            </a:r>
            <a:r>
              <a:rPr sz="900" b="0" i="0" u="none">
                <a:solidFill>
                  <a:srgbClr val="262626"/>
                </a:solidFill>
                <a:latin typeface="Arial"/>
              </a:rPr>
              <a:t>the explanation is the decision evidence itself.</a:t>
            </a:r>
          </a:p>
          <a:p>
            <a:pPr algn="l">
              <a:spcAft>
                <a:spcPts val="300"/>
              </a:spcAft>
            </a:pPr>
            <a:r>
              <a:rPr sz="900" b="0" i="0" u="none">
                <a:solidFill>
                  <a:srgbClr val="262626"/>
                </a:solidFill>
                <a:latin typeface="Arial"/>
              </a:rPr>
              <a:t>Individual techniques are established; the differentiation is their PS-specific integration and operational workflow.</a:t>
            </a:r>
          </a:p>
          <a:p>
            <a:pPr algn="l">
              <a:spcAft>
                <a:spcPts val="0"/>
              </a:spcAft>
            </a:pPr>
            <a:r>
              <a:rPr sz="900" b="1" i="0" u="none">
                <a:solidFill>
                  <a:srgbClr val="262626"/>
                </a:solidFill>
                <a:latin typeface="Arial"/>
              </a:rPr>
              <a:t>Research foundations: </a:t>
            </a:r>
            <a:r>
              <a:rPr sz="900" b="0" i="0" u="none">
                <a:solidFill>
                  <a:srgbClr val="262626"/>
                </a:solidFill>
                <a:latin typeface="Arial"/>
              </a:rPr>
              <a:t>lot-relative limits (AEC-Q001) and burn-in drift limits (ESCC 9000) informed the design — no compliance claimed.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51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Python 3.11+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1600200" y="137160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pandas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468880" y="137160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NumPy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337560" y="137160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pytest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60520" y="13716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robust stats: median · IQR · MAD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537960" y="13716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least-squares regression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412480" y="1371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versioned YAML config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10195559" y="137160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offline · CPU-first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1719072"/>
            <a:ext cx="11430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 u="none">
                <a:solidFill>
                  <a:srgbClr val="38761D"/>
                </a:solidFill>
                <a:latin typeface="Arial"/>
              </a:rPr>
              <a:t>In use now: </a:t>
            </a:r>
            <a:r>
              <a:rPr sz="950" b="0" i="0" u="none">
                <a:solidFill>
                  <a:srgbClr val="595959"/>
                </a:solidFill>
                <a:latin typeface="Arial"/>
              </a:rPr>
              <a:t>Python, pandas, NumPy, pytest — data schema + quality gate, unit-tested.   </a:t>
            </a:r>
            <a:r>
              <a:rPr sz="950" b="1" i="0" u="none">
                <a:solidFill>
                  <a:srgbClr val="C55A11"/>
                </a:solidFill>
                <a:latin typeface="Arial"/>
              </a:rPr>
              <a:t>ML comparators (scikit-learn): </a:t>
            </a:r>
            <a:r>
              <a:rPr sz="950" b="0" i="0" u="none">
                <a:solidFill>
                  <a:srgbClr val="595959"/>
                </a:solidFill>
                <a:latin typeface="Arial"/>
              </a:rPr>
              <a:t>Isolation Forest, gradient-boosted trees — adopted where they beat the baseline.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65760" y="2011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2359152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Burn-in data (CSV lot tables)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checkpoints 0h, 24h … 168h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2459736" y="2642616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3" name="Rounded Rectangle 17422"/>
          <p:cNvSpPr/>
          <p:nvPr/>
        </p:nvSpPr>
        <p:spPr>
          <a:xfrm>
            <a:off x="2711196" y="2359152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Data quality gate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bad data → REVIEW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4805171" y="2642616"/>
            <a:ext cx="233173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5" name="Rounded Rectangle 17424"/>
          <p:cNvSpPr/>
          <p:nvPr/>
        </p:nvSpPr>
        <p:spPr>
          <a:xfrm>
            <a:off x="5056631" y="2359152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Absolute specification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datasheet limit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7150607" y="2642616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7" name="Rounded Rectangle 17426"/>
          <p:cNvSpPr/>
          <p:nvPr/>
        </p:nvSpPr>
        <p:spPr>
          <a:xfrm>
            <a:off x="7402067" y="2359152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Module A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Arial"/>
              </a:rPr>
              <a:t>Lot-relative anomaly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9496043" y="2642616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9" name="Rounded Rectangle 17428"/>
          <p:cNvSpPr/>
          <p:nvPr/>
        </p:nvSpPr>
        <p:spPr>
          <a:xfrm>
            <a:off x="9747503" y="2359152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Trajectory / drift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0→24h change vs lot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3246120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Module B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Arial"/>
              </a:rPr>
              <a:t>0h + 24h → 168h prediction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2459736" y="3529584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2" name="Rounded Rectangle 17431"/>
          <p:cNvSpPr/>
          <p:nvPr/>
        </p:nvSpPr>
        <p:spPr>
          <a:xfrm>
            <a:off x="2711196" y="3246120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Prediction interval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how uncertain?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4805171" y="3529584"/>
            <a:ext cx="233173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4" name="Rounded Rectangle 17433"/>
          <p:cNvSpPr/>
          <p:nvPr/>
        </p:nvSpPr>
        <p:spPr>
          <a:xfrm>
            <a:off x="5056631" y="3246120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Risk / decision engine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595959"/>
                </a:solidFill>
                <a:latin typeface="Arial"/>
              </a:rPr>
              <a:t>ordered rules + safety slope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7150607" y="3529584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6" name="Rounded Rectangle 17435"/>
          <p:cNvSpPr/>
          <p:nvPr/>
        </p:nvSpPr>
        <p:spPr>
          <a:xfrm>
            <a:off x="7402067" y="3246120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PASS / REVIEW / REJECT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Arial"/>
              </a:rPr>
              <a:t>+ binary flag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9496043" y="3529584"/>
            <a:ext cx="233172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8" name="Rounded Rectangle 17437"/>
          <p:cNvSpPr/>
          <p:nvPr/>
        </p:nvSpPr>
        <p:spPr>
          <a:xfrm>
            <a:off x="9747503" y="3246120"/>
            <a:ext cx="2075688" cy="56692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Evidence + audit record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Arial"/>
              </a:rPr>
              <a:t>numbers, rule fired, config version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10785347" y="2926080"/>
            <a:ext cx="0" cy="160020"/>
          </a:xfrm>
          <a:prstGeom prst="line">
            <a:avLst/>
          </a:prstGeom>
          <a:ln w="19050">
            <a:solidFill>
              <a:srgbClr val="7F7F7F"/>
            </a:solidFill>
          </a:ln>
        </p:spPr>
      </p:cxnSp>
      <p:cxnSp>
        <p:nvCxnSpPr>
          <p:cNvPr id="17440" name="Connector 17439"/>
          <p:cNvCxnSpPr/>
          <p:nvPr/>
        </p:nvCxnSpPr>
        <p:spPr>
          <a:xfrm flipH="1">
            <a:off x="1403604" y="3086100"/>
            <a:ext cx="9381743" cy="0"/>
          </a:xfrm>
          <a:prstGeom prst="line">
            <a:avLst/>
          </a:prstGeom>
          <a:ln w="19050">
            <a:solidFill>
              <a:srgbClr val="7F7F7F"/>
            </a:solidFill>
          </a:ln>
        </p:spPr>
      </p:cxnSp>
      <p:cxnSp>
        <p:nvCxnSpPr>
          <p:cNvPr id="17441" name="Connector 17440"/>
          <p:cNvCxnSpPr/>
          <p:nvPr/>
        </p:nvCxnSpPr>
        <p:spPr>
          <a:xfrm>
            <a:off x="1403604" y="3086100"/>
            <a:ext cx="0" cy="141732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42" name="Rounded Rectangle 17441"/>
          <p:cNvSpPr/>
          <p:nvPr/>
        </p:nvSpPr>
        <p:spPr>
          <a:xfrm>
            <a:off x="365760" y="3995928"/>
            <a:ext cx="2692908" cy="146304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43" name="Oval 17442"/>
          <p:cNvSpPr/>
          <p:nvPr/>
        </p:nvSpPr>
        <p:spPr>
          <a:xfrm>
            <a:off x="475488" y="4105656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77824" y="4105656"/>
            <a:ext cx="209854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 u="none">
                <a:solidFill>
                  <a:srgbClr val="1F3864"/>
                </a:solidFill>
                <a:latin typeface="Arial"/>
              </a:rPr>
              <a:t>Lot anomaly detection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93776" y="4498848"/>
            <a:ext cx="2455163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Robust (median-based) distance of each part's level and 0→24h drift from its own lot; Isolation Forest as ML comparator.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493776" y="5184648"/>
            <a:ext cx="1371600" cy="182880"/>
          </a:xfrm>
          <a:prstGeom prst="roundRect">
            <a:avLst>
              <a:gd name="adj" fmla="val 50000"/>
            </a:avLst>
          </a:prstGeom>
          <a:solidFill>
            <a:srgbClr val="2E6E62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ESTABLISHED METHOD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282696" y="3995928"/>
            <a:ext cx="2692908" cy="146304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48" name="Oval 17447"/>
          <p:cNvSpPr/>
          <p:nvPr/>
        </p:nvSpPr>
        <p:spPr>
          <a:xfrm>
            <a:off x="3392424" y="4105656"/>
            <a:ext cx="329184" cy="329184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3794760" y="4105656"/>
            <a:ext cx="209854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 u="none">
                <a:solidFill>
                  <a:srgbClr val="C55A11"/>
                </a:solidFill>
                <a:latin typeface="Arial"/>
              </a:rPr>
              <a:t>ML forecasting ladder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3410712" y="4498848"/>
            <a:ext cx="2455163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Persistence → linear → regression on (v0, v24) → gradient-boosted trees. A model stays only if it lowers MAE on held-out lots.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3410712" y="5184648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PROPOSED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199631" y="3995928"/>
            <a:ext cx="2692908" cy="146304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53" name="Oval 17452"/>
          <p:cNvSpPr/>
          <p:nvPr/>
        </p:nvSpPr>
        <p:spPr>
          <a:xfrm>
            <a:off x="6309359" y="4105656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6711696" y="4105656"/>
            <a:ext cx="209854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 u="none">
                <a:solidFill>
                  <a:srgbClr val="1F3864"/>
                </a:solidFill>
                <a:latin typeface="Arial"/>
              </a:rPr>
              <a:t>Uncertainty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327647" y="4498848"/>
            <a:ext cx="2455163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A range around every 168h forecast (prediction interval), calibrated on held-out lots — not a single overconfident number.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327647" y="5184648"/>
            <a:ext cx="1371600" cy="182880"/>
          </a:xfrm>
          <a:prstGeom prst="roundRect">
            <a:avLst>
              <a:gd name="adj" fmla="val 50000"/>
            </a:avLst>
          </a:prstGeom>
          <a:solidFill>
            <a:srgbClr val="2E6E62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ESTABLISHED METHOD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9116567" y="3995928"/>
            <a:ext cx="2692908" cy="146304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58" name="Oval 17457"/>
          <p:cNvSpPr/>
          <p:nvPr/>
        </p:nvSpPr>
        <p:spPr>
          <a:xfrm>
            <a:off x="9226295" y="4105656"/>
            <a:ext cx="329184" cy="329184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9628632" y="4105656"/>
            <a:ext cx="209854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 u="none">
                <a:solidFill>
                  <a:srgbClr val="1F3864"/>
                </a:solidFill>
                <a:latin typeface="Arial"/>
              </a:rPr>
              <a:t>Explainability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244584" y="4498848"/>
            <a:ext cx="2455163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Every decision carries its numbers and the ordered rule that fired (incl. the safety-slope rule). No black-box score.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44584" y="5184648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PROPOSED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365760" y="5577840"/>
            <a:ext cx="11457432" cy="694944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63" name="TextBox 17462"/>
          <p:cNvSpPr txBox="1"/>
          <p:nvPr/>
        </p:nvSpPr>
        <p:spPr>
          <a:xfrm>
            <a:off x="502920" y="5605272"/>
            <a:ext cx="112014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Validation built in: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lot-grouped splits · frozen final test lots · automated leakage tests (no 96h/168h value used at 24h) · ablation: each layer stays only if removing it measurably hurts.</a:t>
            </a:r>
          </a:p>
          <a:p>
            <a:pPr algn="l">
              <a:spcAft>
                <a:spcPts val="200"/>
              </a:spcAft>
            </a:pPr>
            <a:r>
              <a:rPr sz="1000" b="0" i="1" u="none">
                <a:solidFill>
                  <a:srgbClr val="595959"/>
                </a:solidFill>
                <a:latin typeface="Arial"/>
              </a:rPr>
              <a:t>All formulas (lot score, drift rate, safety slope) are proposed engineering definitions where the PS is silent — documented in our design records.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Table 17409"/>
          <p:cNvGraphicFramePr>
            <a:graphicFrameLocks noGrp="1"/>
          </p:cNvGraphicFramePr>
          <p:nvPr/>
        </p:nvGraphicFramePr>
        <p:xfrm>
          <a:off x="365760" y="1097280"/>
          <a:ext cx="7818120" cy="42245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Official dataset unavailable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Controlled </a:t>
                      </a:r>
                      <a:r>
                        <a:rPr sz="1050" b="1" i="0" u="none">
                          <a:solidFill>
                            <a:srgbClr val="262626"/>
                          </a:solidFill>
                          <a:latin typeface="Arial"/>
                        </a:rPr>
                        <a:t>synthetic PS-shaped</a:t>
                      </a: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 data (always labelled) + </a:t>
                      </a:r>
                      <a:r>
                        <a:rPr sz="1050" b="1" i="0" u="none">
                          <a:solidFill>
                            <a:srgbClr val="7030A0"/>
                          </a:solidFill>
                          <a:latin typeface="Arial"/>
                        </a:rPr>
                        <a:t>external public aging data — methodology validation only</a:t>
                      </a: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 + official-data-ready pipeline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Only Value_0h and Value_24h at decision time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Simple, stable predictors + prediction interval + REVIEW path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Lot contamination / mixed populations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Data-quality checks + robust (median-based) statistics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Whole lot may degrade together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Absolute safety backstop in addition to lot-relative analysis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Safety slope / Anomaly Score not defined in the PS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Configurable engineering definition + sensitivity analysis + organiser clarification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Data leakage / optimistic results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>
                          <a:solidFill>
                            <a:srgbClr val="262626"/>
                          </a:solidFill>
                          <a:latin typeface="Arial"/>
                        </a:rPr>
                        <a:t>Lot-grouped splits + frozen test lots + no future features (automated tests)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 u="none">
                          <a:solidFill>
                            <a:srgbClr val="1F3864"/>
                          </a:solidFill>
                          <a:latin typeface="Arial"/>
                        </a:rPr>
                        <a:t>Deployment in controlled facilities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 i="0" u="none" dirty="0">
                          <a:solidFill>
                            <a:srgbClr val="262626"/>
                          </a:solidFill>
                          <a:latin typeface="Arial"/>
                        </a:rPr>
                        <a:t>Offline, CPU-first architecture; measurement data stays on site</a:t>
                      </a:r>
                    </a:p>
                  </a:txBody>
                  <a:tcPr marT="27432" marB="27432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411" name="TextBox 17410"/>
          <p:cNvSpPr txBox="1"/>
          <p:nvPr/>
        </p:nvSpPr>
        <p:spPr>
          <a:xfrm>
            <a:off x="8412480" y="1097280"/>
            <a:ext cx="3410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 u="none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412480" y="1444752"/>
            <a:ext cx="3410712" cy="69494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>
            <a:noFill/>
          </a:ln>
        </p:spPr>
        <p:txBody>
          <a:bodyPr wrap="square" lIns="109728" tIns="27432" rIns="109728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Technical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Robust statistics + least-squares regression on small lot tables; no GPU.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412480" y="2226564"/>
            <a:ext cx="3410712" cy="69494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>
            <a:noFill/>
          </a:ln>
        </p:spPr>
        <p:txBody>
          <a:bodyPr wrap="square" lIns="109728" tIns="27432" rIns="109728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Operational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Reads checkpoint measurements, returns PASS / REVIEW / REJECT; engineer can override.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412480" y="3008376"/>
            <a:ext cx="3410712" cy="69494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>
            <a:noFill/>
          </a:ln>
        </p:spPr>
        <p:txBody>
          <a:bodyPr wrap="square" lIns="109728" tIns="27432" rIns="109728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Financial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Open-source stack on a standard CPU workstation; no licence or cloud cost.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412480" y="3790187"/>
            <a:ext cx="3410712" cy="69494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>
            <a:noFill/>
          </a:ln>
        </p:spPr>
        <p:txBody>
          <a:bodyPr wrap="square" lIns="109728" tIns="27432" rIns="109728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Auditable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Every threshold in versioned config; each decision reproducible from its record.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412480" y="4572000"/>
            <a:ext cx="3410712" cy="694944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>
            <a:noFill/>
          </a:ln>
        </p:spPr>
        <p:txBody>
          <a:bodyPr wrap="square" lIns="109728" tIns="27432" rIns="109728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38761D"/>
                </a:solidFill>
                <a:latin typeface="Arial"/>
              </a:rPr>
              <a:t>Already started</a:t>
            </a:r>
          </a:p>
          <a:p>
            <a:pPr algn="l">
              <a:spcAft>
                <a:spcPts val="0"/>
              </a:spcAft>
            </a:pPr>
            <a:r>
              <a:rPr sz="950" b="0" i="0" u="none">
                <a:solidFill>
                  <a:srgbClr val="262626"/>
                </a:solidFill>
                <a:latin typeface="Arial"/>
              </a:rPr>
              <a:t>Canonical data schema + data-quality gate implemented and unit-tested.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65760" y="5486400"/>
            <a:ext cx="150876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Incremental</a:t>
            </a:r>
          </a:p>
          <a:p>
            <a:pPr algn="l">
              <a:spcAft>
                <a:spcPts val="0"/>
              </a:spcAft>
            </a:pPr>
            <a:r>
              <a:rPr sz="1050" b="1" i="0" u="none">
                <a:solidFill>
                  <a:srgbClr val="1F3864"/>
                </a:solidFill>
                <a:latin typeface="Arial"/>
              </a:rPr>
              <a:t>build path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1920240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3008376" y="56967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0" name="Rounded Rectangle 17419"/>
          <p:cNvSpPr/>
          <p:nvPr/>
        </p:nvSpPr>
        <p:spPr>
          <a:xfrm>
            <a:off x="3172968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Baseline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4261103" y="5696712"/>
            <a:ext cx="146305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2" name="Rounded Rectangle 17421"/>
          <p:cNvSpPr/>
          <p:nvPr/>
        </p:nvSpPr>
        <p:spPr>
          <a:xfrm>
            <a:off x="4425696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Lot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5513831" y="5696712"/>
            <a:ext cx="146305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4" name="Rounded Rectangle 17423"/>
          <p:cNvSpPr/>
          <p:nvPr/>
        </p:nvSpPr>
        <p:spPr>
          <a:xfrm>
            <a:off x="5678424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Drift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6766559" y="5696712"/>
            <a:ext cx="146305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6" name="Rounded Rectangle 17425"/>
          <p:cNvSpPr/>
          <p:nvPr/>
        </p:nvSpPr>
        <p:spPr>
          <a:xfrm>
            <a:off x="6931152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Prediction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8019288" y="56967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28" name="Rounded Rectangle 17427"/>
          <p:cNvSpPr/>
          <p:nvPr/>
        </p:nvSpPr>
        <p:spPr>
          <a:xfrm>
            <a:off x="8183879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Uncertainty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9272015" y="56967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0" name="Rounded Rectangle 17429"/>
          <p:cNvSpPr/>
          <p:nvPr/>
        </p:nvSpPr>
        <p:spPr>
          <a:xfrm>
            <a:off x="9436607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Decision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10524743" y="56967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32" name="Rounded Rectangle 17431"/>
          <p:cNvSpPr/>
          <p:nvPr/>
        </p:nvSpPr>
        <p:spPr>
          <a:xfrm>
            <a:off x="10689335" y="5504688"/>
            <a:ext cx="1069848" cy="384048"/>
          </a:xfrm>
          <a:prstGeom prst="roundRect">
            <a:avLst>
              <a:gd name="adj" fmla="val 18000"/>
            </a:avLst>
          </a:prstGeom>
          <a:solidFill>
            <a:srgbClr val="DEEBF7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Explanation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874520" y="591616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endParaRPr sz="850" b="1" i="0" u="none" dirty="0">
              <a:solidFill>
                <a:srgbClr val="38761D"/>
              </a:solidFill>
              <a:latin typeface="Arial"/>
            </a:endParaRPr>
          </a:p>
        </p:txBody>
      </p:sp>
      <p:sp>
        <p:nvSpPr>
          <p:cNvPr id="17434" name="TextBox 17433"/>
          <p:cNvSpPr txBox="1"/>
          <p:nvPr/>
        </p:nvSpPr>
        <p:spPr>
          <a:xfrm>
            <a:off x="3172968" y="5916168"/>
            <a:ext cx="8650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0" i="1" u="none">
                <a:solidFill>
                  <a:srgbClr val="595959"/>
                </a:solidFill>
                <a:latin typeface="Arial"/>
              </a:rPr>
              <a:t>each step is measured against the previous one before the next is added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515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486400" y="1051560"/>
            <a:ext cx="633679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 i="0" u="none">
                <a:solidFill>
                  <a:srgbClr val="595959"/>
                </a:solidFill>
                <a:latin typeface="Arial"/>
              </a:rPr>
              <a:t>For: </a:t>
            </a:r>
            <a:r>
              <a:rPr sz="1000" b="0" i="0" u="none">
                <a:solidFill>
                  <a:srgbClr val="595959"/>
                </a:solidFill>
                <a:latin typeface="Arial"/>
              </a:rPr>
              <a:t>component screening / QA and reliability engineers, space-grade electronics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444752"/>
            <a:ext cx="1783080" cy="50292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CONVENTIONAL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331720" y="1444752"/>
            <a:ext cx="1188720" cy="502920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Burn-in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3538728" y="16962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15" name="Rounded Rectangle 17414"/>
          <p:cNvSpPr/>
          <p:nvPr/>
        </p:nvSpPr>
        <p:spPr>
          <a:xfrm>
            <a:off x="3703320" y="1444752"/>
            <a:ext cx="4297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595959"/>
                </a:solidFill>
                <a:latin typeface="Arial"/>
              </a:rPr>
              <a:t>Wait</a:t>
            </a:r>
            <a:r>
              <a:rPr sz="1050" b="0" i="1" u="none">
                <a:solidFill>
                  <a:srgbClr val="595959"/>
                </a:solidFill>
                <a:latin typeface="Arial"/>
              </a:rPr>
              <a:t>  — no view of which parts are heading for trouble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8019288" y="16962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17" name="Rounded Rectangle 17416"/>
          <p:cNvSpPr/>
          <p:nvPr/>
        </p:nvSpPr>
        <p:spPr>
          <a:xfrm>
            <a:off x="8183879" y="1444752"/>
            <a:ext cx="1737360" cy="502920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Final screening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9939528" y="1696212"/>
            <a:ext cx="146304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17419" name="Rounded Rectangle 17418"/>
          <p:cNvSpPr/>
          <p:nvPr/>
        </p:nvSpPr>
        <p:spPr>
          <a:xfrm>
            <a:off x="10104120" y="1444752"/>
            <a:ext cx="1719072" cy="502920"/>
          </a:xfrm>
          <a:prstGeom prst="roundRect">
            <a:avLst>
              <a:gd name="adj" fmla="val 18000"/>
            </a:avLst>
          </a:prstGeom>
          <a:solidFill>
            <a:srgbClr val="D9D9D9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PASS / FAIL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2103120"/>
            <a:ext cx="1783080" cy="502920"/>
          </a:xfrm>
          <a:prstGeom prst="roundRect">
            <a:avLst>
              <a:gd name="adj" fmla="val 18000"/>
            </a:avLst>
          </a:prstGeom>
          <a:solidFill>
            <a:srgbClr val="C55A11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</a:rPr>
              <a:t>AGNIDRISHTI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2331720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Burn-in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3794759" y="2354579"/>
            <a:ext cx="128017" cy="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17423" name="Rounded Rectangle 17422"/>
          <p:cNvSpPr/>
          <p:nvPr/>
        </p:nvSpPr>
        <p:spPr>
          <a:xfrm>
            <a:off x="3941063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24h data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5404103" y="2354579"/>
            <a:ext cx="128017" cy="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17425" name="Rounded Rectangle 17424"/>
          <p:cNvSpPr/>
          <p:nvPr/>
        </p:nvSpPr>
        <p:spPr>
          <a:xfrm>
            <a:off x="5550407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Early risk</a:t>
            </a:r>
          </a:p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assessment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7013447" y="2354579"/>
            <a:ext cx="128017" cy="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17427" name="Rounded Rectangle 17426"/>
          <p:cNvSpPr/>
          <p:nvPr/>
        </p:nvSpPr>
        <p:spPr>
          <a:xfrm>
            <a:off x="7159751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Prioritise</a:t>
            </a:r>
          </a:p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262626"/>
                </a:solidFill>
                <a:latin typeface="Arial"/>
              </a:rPr>
              <a:t>REVIEW cases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8622792" y="2354579"/>
            <a:ext cx="128016" cy="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17429" name="Rounded Rectangle 17428"/>
          <p:cNvSpPr/>
          <p:nvPr/>
        </p:nvSpPr>
        <p:spPr>
          <a:xfrm>
            <a:off x="8769096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C55A11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</a:rPr>
              <a:t>168h</a:t>
            </a:r>
          </a:p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</a:rPr>
              <a:t>forecast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232136" y="2354579"/>
            <a:ext cx="128016" cy="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17431" name="Rounded Rectangle 17430"/>
          <p:cNvSpPr/>
          <p:nvPr/>
        </p:nvSpPr>
        <p:spPr>
          <a:xfrm>
            <a:off x="10378440" y="2103120"/>
            <a:ext cx="1444752" cy="502920"/>
          </a:xfrm>
          <a:prstGeom prst="roundRect">
            <a:avLst>
              <a:gd name="adj" fmla="val 18000"/>
            </a:avLst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</a:rPr>
              <a:t>Evidence-backed</a:t>
            </a:r>
          </a:p>
          <a:p>
            <a:pPr algn="ctr">
              <a:spcAft>
                <a:spcPts val="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2331720" y="2670048"/>
            <a:ext cx="9491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50" b="0" i="1" u="none">
                <a:solidFill>
                  <a:srgbClr val="595959"/>
                </a:solidFill>
                <a:latin typeface="Arial"/>
              </a:rPr>
              <a:t>Adds an early, evidence-backed view at 24h; the engineer stays in the loop for every REVIEW and REJECT.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6576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65760" y="3346704"/>
            <a:ext cx="3666744" cy="111556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35" name="TextBox 17434"/>
          <p:cNvSpPr txBox="1"/>
          <p:nvPr/>
        </p:nvSpPr>
        <p:spPr>
          <a:xfrm>
            <a:off x="548640" y="3419856"/>
            <a:ext cx="330098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 u="none">
                <a:solidFill>
                  <a:srgbClr val="1F3864"/>
                </a:solidFill>
                <a:latin typeface="Arial"/>
              </a:rPr>
              <a:t>RELIABILITY</a:t>
            </a:r>
            <a:r>
              <a:rPr sz="950" b="0" i="1" u="none">
                <a:solidFill>
                  <a:srgbClr val="595959"/>
                </a:solidFill>
                <a:latin typeface="Arial"/>
              </a:rPr>
              <a:t>   Mission reliability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48640" y="3785615"/>
            <a:ext cx="33009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 u="none">
                <a:solidFill>
                  <a:srgbClr val="262626"/>
                </a:solidFill>
                <a:latin typeface="Arial"/>
              </a:rPr>
              <a:t>Earlier visibility into abnormal trajectories — aimed at fewer latent defects reaching flight hardware.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261104" y="3346704"/>
            <a:ext cx="3666744" cy="1115568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38" name="TextBox 17437"/>
          <p:cNvSpPr txBox="1"/>
          <p:nvPr/>
        </p:nvSpPr>
        <p:spPr>
          <a:xfrm>
            <a:off x="4443984" y="3419856"/>
            <a:ext cx="330098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 u="none">
                <a:solidFill>
                  <a:srgbClr val="C55A11"/>
                </a:solidFill>
                <a:latin typeface="Arial"/>
              </a:rPr>
              <a:t>EFFICIENCY</a:t>
            </a:r>
            <a:r>
              <a:rPr sz="950" b="0" i="1" u="none">
                <a:solidFill>
                  <a:srgbClr val="595959"/>
                </a:solidFill>
                <a:latin typeface="Arial"/>
              </a:rPr>
              <a:t>   Economic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443984" y="3785615"/>
            <a:ext cx="33009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 u="none">
                <a:solidFill>
                  <a:srgbClr val="262626"/>
                </a:solidFill>
                <a:latin typeface="Arial"/>
              </a:rPr>
              <a:t>Engineering attention focused on suspicious components instead of re-inspecting every part; better use of burn-in capacity.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156448" y="3346704"/>
            <a:ext cx="3666744" cy="1115568"/>
          </a:xfrm>
          <a:prstGeom prst="roundRect">
            <a:avLst>
              <a:gd name="adj" fmla="val 8000"/>
            </a:avLst>
          </a:prstGeom>
          <a:solidFill>
            <a:srgbClr val="E2EFDA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41" name="TextBox 17440"/>
          <p:cNvSpPr txBox="1"/>
          <p:nvPr/>
        </p:nvSpPr>
        <p:spPr>
          <a:xfrm>
            <a:off x="8339327" y="3419856"/>
            <a:ext cx="330098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 u="none">
                <a:solidFill>
                  <a:srgbClr val="38761D"/>
                </a:solidFill>
                <a:latin typeface="Arial"/>
              </a:rPr>
              <a:t>TRUST</a:t>
            </a:r>
            <a:r>
              <a:rPr sz="950" b="0" i="1" u="none">
                <a:solidFill>
                  <a:srgbClr val="595959"/>
                </a:solidFill>
                <a:latin typeface="Arial"/>
              </a:rPr>
              <a:t>   Operational · security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339327" y="3785615"/>
            <a:ext cx="33009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 u="none">
                <a:solidFill>
                  <a:srgbClr val="262626"/>
                </a:solidFill>
                <a:latin typeface="Arial"/>
              </a:rPr>
              <a:t>Auditable, explainable, human-in-the-loop decisions; runs on-premises — data never leaves the facility.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365760" y="4681728"/>
            <a:ext cx="1463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Future</a:t>
            </a:r>
          </a:p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progression</a:t>
            </a:r>
          </a:p>
        </p:txBody>
      </p:sp>
      <p:sp>
        <p:nvSpPr>
          <p:cNvPr id="17444" name="Pentagon 17443"/>
          <p:cNvSpPr/>
          <p:nvPr/>
        </p:nvSpPr>
        <p:spPr>
          <a:xfrm>
            <a:off x="1920240" y="4681728"/>
            <a:ext cx="2487168" cy="685800"/>
          </a:xfrm>
          <a:prstGeom prst="homePlate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18288" rIns="128016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Aft>
                <a:spcPts val="0"/>
              </a:spcAft>
            </a:pPr>
            <a:r>
              <a:rPr sz="950" b="0" i="0" u="none">
                <a:solidFill>
                  <a:srgbClr val="FFFFFF"/>
                </a:solidFill>
                <a:latin typeface="Arial"/>
              </a:rPr>
              <a:t>Prototype on controlled synthetic + public data</a:t>
            </a:r>
          </a:p>
        </p:txBody>
      </p:sp>
      <p:sp>
        <p:nvSpPr>
          <p:cNvPr id="17445" name="Chevron 17444"/>
          <p:cNvSpPr/>
          <p:nvPr/>
        </p:nvSpPr>
        <p:spPr>
          <a:xfrm>
            <a:off x="4389120" y="4681728"/>
            <a:ext cx="2487168" cy="685800"/>
          </a:xfrm>
          <a:prstGeom prst="chevron">
            <a:avLst/>
          </a:prstGeom>
          <a:solidFill>
            <a:srgbClr val="DEEBF7"/>
          </a:solidFill>
          <a:ln>
            <a:noFill/>
          </a:ln>
        </p:spPr>
        <p:txBody>
          <a:bodyPr wrap="square" lIns="219456" tIns="18288" rIns="128016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1F3864"/>
                </a:solidFill>
                <a:latin typeface="Arial"/>
              </a:rPr>
              <a:t>PHASE 2</a:t>
            </a:r>
          </a:p>
          <a:p>
            <a:pPr algn="ctr">
              <a:spcAft>
                <a:spcPts val="0"/>
              </a:spcAft>
            </a:pPr>
            <a:r>
              <a:rPr sz="950" b="0" i="0" u="none">
                <a:solidFill>
                  <a:srgbClr val="1F3864"/>
                </a:solidFill>
                <a:latin typeface="Arial"/>
              </a:rPr>
              <a:t>Calibrate on representative ISRO burn-in data</a:t>
            </a:r>
          </a:p>
        </p:txBody>
      </p:sp>
      <p:sp>
        <p:nvSpPr>
          <p:cNvPr id="17446" name="Chevron 17445"/>
          <p:cNvSpPr/>
          <p:nvPr/>
        </p:nvSpPr>
        <p:spPr>
          <a:xfrm>
            <a:off x="6858000" y="4681728"/>
            <a:ext cx="2487168" cy="685800"/>
          </a:xfrm>
          <a:prstGeom prst="chevron">
            <a:avLst/>
          </a:prstGeom>
          <a:solidFill>
            <a:srgbClr val="DEEBF7"/>
          </a:solidFill>
          <a:ln>
            <a:noFill/>
          </a:ln>
        </p:spPr>
        <p:txBody>
          <a:bodyPr wrap="square" lIns="219456" tIns="18288" rIns="128016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1F3864"/>
                </a:solidFill>
                <a:latin typeface="Arial"/>
              </a:rPr>
              <a:t>PHASE 3</a:t>
            </a:r>
          </a:p>
          <a:p>
            <a:pPr algn="ctr">
              <a:spcAft>
                <a:spcPts val="0"/>
              </a:spcAft>
            </a:pPr>
            <a:r>
              <a:rPr sz="950" b="0" i="0" u="none">
                <a:solidFill>
                  <a:srgbClr val="1F3864"/>
                </a:solidFill>
                <a:latin typeface="Arial"/>
              </a:rPr>
              <a:t>Multiple parameters + cross-lot history</a:t>
            </a:r>
          </a:p>
        </p:txBody>
      </p:sp>
      <p:sp>
        <p:nvSpPr>
          <p:cNvPr id="17447" name="Chevron 17446"/>
          <p:cNvSpPr/>
          <p:nvPr/>
        </p:nvSpPr>
        <p:spPr>
          <a:xfrm>
            <a:off x="9326880" y="4681728"/>
            <a:ext cx="2487168" cy="685800"/>
          </a:xfrm>
          <a:prstGeom prst="chevron">
            <a:avLst/>
          </a:prstGeom>
          <a:solidFill>
            <a:srgbClr val="DEEBF7"/>
          </a:solidFill>
          <a:ln>
            <a:noFill/>
          </a:ln>
        </p:spPr>
        <p:txBody>
          <a:bodyPr wrap="square" lIns="219456" tIns="18288" rIns="128016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1" i="0" u="none">
                <a:solidFill>
                  <a:srgbClr val="1F3864"/>
                </a:solidFill>
                <a:latin typeface="Arial"/>
              </a:rPr>
              <a:t>PHASE 4</a:t>
            </a:r>
          </a:p>
          <a:p>
            <a:pPr algn="ctr">
              <a:spcAft>
                <a:spcPts val="0"/>
              </a:spcAft>
            </a:pPr>
            <a:r>
              <a:rPr sz="950" b="0" i="0" u="none">
                <a:solidFill>
                  <a:srgbClr val="1F3864"/>
                </a:solidFill>
                <a:latin typeface="Arial"/>
              </a:rPr>
              <a:t>Integration with test-equipment logs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65760" y="5614416"/>
            <a:ext cx="11457432" cy="512064"/>
          </a:xfrm>
          <a:prstGeom prst="roundRect">
            <a:avLst>
              <a:gd name="adj" fmla="val 30000"/>
            </a:avLst>
          </a:prstGeom>
          <a:solidFill>
            <a:srgbClr val="FBE5D6"/>
          </a:solidFill>
          <a:ln>
            <a:noFill/>
          </a:ln>
        </p:spPr>
        <p:txBody>
          <a:bodyPr wrap="square" lIns="45720" tIns="27432" rIns="45720" bIns="27432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C55A11"/>
                </a:solidFill>
                <a:latin typeface="Arial"/>
              </a:rPr>
              <a:t>Quantitative gains will be measured after representative-data validation. </a:t>
            </a:r>
            <a:r>
              <a:rPr sz="1100" b="0" i="1" u="none">
                <a:solidFill>
                  <a:srgbClr val="C55A11"/>
                </a:solidFill>
                <a:latin typeface="Arial"/>
              </a:rPr>
              <a:t>No results or impact figures are claimed at the idea stage.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 u="none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17320"/>
            <a:ext cx="5623560" cy="10972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49047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OFFICIAL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270601" y="1508760"/>
            <a:ext cx="581558" cy="20116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Official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1783080"/>
            <a:ext cx="5349240" cy="6766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SIH 2026 PS 26170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 — AI-Driven Anomaly Detection in Component Burn-In &amp; Screening (ISRO). sih.gov.in/sih2026PS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SIH 2026 Guidelines; SIH 2026 Idea Presentation Format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 — sih.gov.in/letters/2026/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2624328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6F0EE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502920" y="269748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2E6E62"/>
                </a:solidFill>
                <a:latin typeface="Arial"/>
              </a:rPr>
              <a:t>RELIABILITY FOUNDATIONS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800246" y="2715768"/>
            <a:ext cx="2051913" cy="201168"/>
          </a:xfrm>
          <a:prstGeom prst="roundRect">
            <a:avLst>
              <a:gd name="adj" fmla="val 50000"/>
            </a:avLst>
          </a:prstGeom>
          <a:solidFill>
            <a:srgbClr val="2E6E62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Research · no compliance claimed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02920" y="2990088"/>
            <a:ext cx="5349240" cy="8778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AEC-Q001 Rev-D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, Guidelines for Part Average Testing, Automotive Electronics Council, 2011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ESCC Generic Specification No. 9000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, Issue 10, ESA, 2018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ESCC Detail Specification No. 9202/045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, Issue 6, ESA, 2020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4032504"/>
            <a:ext cx="5623560" cy="1325880"/>
          </a:xfrm>
          <a:prstGeom prst="roundRect">
            <a:avLst>
              <a:gd name="adj" fmla="val 6000"/>
            </a:avLst>
          </a:prstGeom>
          <a:solidFill>
            <a:srgbClr val="EDE4F5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502920" y="410565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7030A0"/>
                </a:solidFill>
                <a:latin typeface="Arial"/>
              </a:rPr>
              <a:t>DATA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126333" y="4123944"/>
            <a:ext cx="2725826" cy="201168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External public dataset · not SIH/ISRO data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02920" y="4398264"/>
            <a:ext cx="5349240" cy="9052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NASA PCoE Data Repository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 — MOSFET Thermal Overstress Aging (Celaya, Saxena, Saha, Goebel)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NASA PCoE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 — IGBT Accelerated Aging (Celaya, Wysocki, Goebel, 2009)</a:t>
            </a:r>
          </a:p>
          <a:p>
            <a:pPr algn="l">
              <a:spcAft>
                <a:spcPts val="400"/>
              </a:spcAft>
            </a:pPr>
            <a:r>
              <a:rPr sz="1000" b="0" i="1" u="none">
                <a:solidFill>
                  <a:srgbClr val="7030A0"/>
                </a:solidFill>
                <a:latin typeface="Arial"/>
              </a:rPr>
              <a:t>Used for methodology validation only.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9632" y="1417320"/>
            <a:ext cx="5623560" cy="1783080"/>
          </a:xfrm>
          <a:prstGeom prst="roundRect">
            <a:avLst>
              <a:gd name="adj" fmla="val 6000"/>
            </a:avLst>
          </a:prstGeom>
          <a:solidFill>
            <a:srgbClr val="E6F0EE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6336792" y="149047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2E6E62"/>
                </a:solidFill>
                <a:latin typeface="Arial"/>
              </a:rPr>
              <a:t>PRIOR ART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1104473" y="1508760"/>
            <a:ext cx="581558" cy="201168"/>
          </a:xfrm>
          <a:prstGeom prst="roundRect">
            <a:avLst>
              <a:gd name="adj" fmla="val 50000"/>
            </a:avLst>
          </a:prstGeom>
          <a:solidFill>
            <a:srgbClr val="2E6E62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Research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336792" y="1783080"/>
            <a:ext cx="5349240" cy="1362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Burn-in ML: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I. Ahmed, P. Baraldi, E. Zio, H. Lewitschnig, Comput. Ind. Eng. 204, 111115, 2025 · doi:10.1016/j.cie.2025.111115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Lot health for burn-in: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L. Langenberg, R. Pätzold, A. Khalid, ESREL 2023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Burn-in outliers: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US 8,010,310 B2, Method and apparatus for identifying outliers following burn-in testing, 2011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199632" y="3310128"/>
            <a:ext cx="5623560" cy="2048256"/>
          </a:xfrm>
          <a:prstGeom prst="roundRect">
            <a:avLst>
              <a:gd name="adj" fmla="val 6000"/>
            </a:avLst>
          </a:prstGeom>
          <a:solidFill>
            <a:srgbClr val="E6F0EE"/>
          </a:solidFill>
          <a:ln>
            <a:noFill/>
          </a:ln>
        </p:spPr>
        <p:txBody>
          <a:bodyPr wrap="square" lIns="45720" tIns="27432" rIns="45720" bIns="27432" rtlCol="0" anchor="t">
            <a:noAutofit/>
          </a:bodyPr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6336792" y="338328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 u="none">
                <a:solidFill>
                  <a:srgbClr val="2E6E62"/>
                </a:solidFill>
                <a:latin typeface="Arial"/>
              </a:rPr>
              <a:t>METHOD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11104473" y="3401568"/>
            <a:ext cx="581558" cy="201168"/>
          </a:xfrm>
          <a:prstGeom prst="roundRect">
            <a:avLst>
              <a:gd name="adj" fmla="val 50000"/>
            </a:avLst>
          </a:prstGeom>
          <a:solidFill>
            <a:srgbClr val="2E6E62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1" i="0" u="none">
                <a:solidFill>
                  <a:srgbClr val="FFFFFF"/>
                </a:solidFill>
                <a:latin typeface="Arial"/>
              </a:rPr>
              <a:t>Research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336792" y="3675888"/>
            <a:ext cx="5349240" cy="16276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Conformal prediction: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J. Lei et al., JASA 113(523), 2018 · doi:10.1080/01621459.2017.1307116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Grouped (lot) data: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R. Dunn, L. Wasserman, A. Ramdas, JASA 118(544), 2023 · doi:10.1080/01621459.2022.2060112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Degradation modelling: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C. J. Lu, W. O. Meeker, Technometrics 35(2), 1993 · doi:10.1080/00401706.1993.10485038</a:t>
            </a:r>
          </a:p>
          <a:p>
            <a:pPr algn="l">
              <a:spcAft>
                <a:spcPts val="400"/>
              </a:spcAft>
            </a:pPr>
            <a:r>
              <a:rPr sz="1000" b="1" i="0" u="none">
                <a:solidFill>
                  <a:srgbClr val="262626"/>
                </a:solidFill>
                <a:latin typeface="Arial"/>
              </a:rPr>
              <a:t>Reject option (REVIEW): </a:t>
            </a:r>
            <a:r>
              <a:rPr sz="1000" b="0" i="0" u="none">
                <a:solidFill>
                  <a:srgbClr val="262626"/>
                </a:solidFill>
                <a:latin typeface="Arial"/>
              </a:rPr>
              <a:t>C. K. Chow, IEEE Trans. Inf. Theory 16(1), 1970 · doi:10.1109/TIT.1970.1054406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5486400"/>
            <a:ext cx="11457432" cy="73152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27432" rIns="137160" bIns="27432" rtlCol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 u="none">
                <a:solidFill>
                  <a:srgbClr val="1F3864"/>
                </a:solidFill>
                <a:latin typeface="Arial"/>
              </a:rPr>
              <a:t>How to read these: </a:t>
            </a:r>
            <a:r>
              <a:rPr sz="950" b="0" i="0" u="none">
                <a:solidFill>
                  <a:srgbClr val="262626"/>
                </a:solidFill>
                <a:latin typeface="Arial"/>
              </a:rPr>
              <a:t>Official sources define the problem. Reliability and prior-art sources informed the design choices. Method sources underpin the proposed statistics. NASA data is an external public dataset for methodology checks — it is not SIH or ISRO data. No official PS dataset has been published.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7490</TotalTime>
  <Words>2566</Words>
  <Application>Microsoft Office PowerPoint</Application>
  <PresentationFormat>Widescreen</PresentationFormat>
  <Paragraphs>304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AgniDrishti Static screening → trajectory-aware burn-in screening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Mrudula Gharat</cp:lastModifiedBy>
  <cp:revision>150</cp:revision>
  <dcterms:created xsi:type="dcterms:W3CDTF">2013-12-12T18:46:50Z</dcterms:created>
  <dcterms:modified xsi:type="dcterms:W3CDTF">2026-09-26T09:24:44Z</dcterms:modified>
  <cp:category/>
</cp:coreProperties>
</file>